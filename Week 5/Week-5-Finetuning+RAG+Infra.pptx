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IBM Plex Sans Medium"/>
      <p:regular r:id="rId13"/>
    </p:embeddedFont>
    <p:embeddedFont>
      <p:font typeface="IBM Plex Sans Medium"/>
      <p:regular r:id="rId14"/>
    </p:embeddedFont>
    <p:embeddedFont>
      <p:font typeface="IBM Plex Sans Medium"/>
      <p:regular r:id="rId15"/>
    </p:embeddedFont>
    <p:embeddedFont>
      <p:font typeface="IBM Plex Sans Medium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256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Week 4 Snapshot: Data Readiness &amp; Fine-Tuning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37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datasets cleaned, canonicalised, lightly augmented → unified </a:t>
            </a:r>
            <a:pPr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Alpaca-style</a:t>
            </a:r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schema (instruction, input, output, source, id, task).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418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</a:t>
            </a:r>
            <a:pPr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merge → dedup → shuffle → split (80/10/10, seed=42)</a:t>
            </a:r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labelled sets up-weighted in val/test.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598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Orchestrated </a:t>
            </a:r>
            <a:pPr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HPC upload + verification</a:t>
            </a:r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checksums recorded; spot-checks on split integrity.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9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LoRA/QLoRA</a:t>
            </a:r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training script prepared with prompt masking, eval hooks, early stopping, and logging.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959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Artifacts: processed JSONLs, training logs/plots, configs, and scripts captured for reproducibility.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4140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 prototype + UI  medical web-app. Integrating Gemini + CoT + Multimodal. Dummy placeholders for semantic retrieval.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7318"/>
            <a:ext cx="786931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Fine-Tuning Techniques Implemented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417921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241792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5" name="Text 3"/>
          <p:cNvSpPr/>
          <p:nvPr/>
        </p:nvSpPr>
        <p:spPr>
          <a:xfrm>
            <a:off x="1173004" y="2675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Prompt Masking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3004" y="3165634"/>
            <a:ext cx="35598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(labels = −100 on prompt tokens) to learn only the answer.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417921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6962" y="241792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9" name="Text 7"/>
          <p:cNvSpPr/>
          <p:nvPr/>
        </p:nvSpPr>
        <p:spPr>
          <a:xfrm>
            <a:off x="5596176" y="2675215"/>
            <a:ext cx="35598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PEFT LoRA / optional QLoRA (NF4)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6176" y="3519964"/>
            <a:ext cx="35598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Configurable target modules; gradient checkpointing; bf16/fp16.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417921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0133" y="241792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9348" y="2675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Schedulers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19348" y="3165634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(linear/cosine), warmup, early stopping (patience), periodic eval/save.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738449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790" y="4738449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3004" y="4995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Evaluation Hooks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3004" y="5486162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gen sanity checks; quick Y/N/Maybe proxy; full loss tracking.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738449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6962" y="4738449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21" name="Text 19"/>
          <p:cNvSpPr/>
          <p:nvPr/>
        </p:nvSpPr>
        <p:spPr>
          <a:xfrm>
            <a:off x="5596176" y="4995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Training Harness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96176" y="5486162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JSONL ingest, dynamic padding, tokenizer fixes, max_len=2048; reproducible CLI.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610" y="390168"/>
            <a:ext cx="5006697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Fine-Tuning Outcomes (Run Summary)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610" y="1046321"/>
            <a:ext cx="1773674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Progress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610" y="1409819"/>
            <a:ext cx="6645593" cy="45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2,000 steps, eval every 200; max epoch ≈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0.537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runtime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~77,701s (~21.6h)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throughput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~0.144 steps/s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(train) &amp;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~2.055 samples/s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(eval).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610" y="2005727"/>
            <a:ext cx="1773674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LR Schedule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610" y="2369225"/>
            <a:ext cx="6645593" cy="45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Warmup to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~2e-4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~step 350–400 → gentle decay to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1.69e-4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@ step 2000 (short warmup + linear/very shallow cosine).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5818" y="1046321"/>
            <a:ext cx="1773674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5818" y="1409819"/>
            <a:ext cx="6645593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loss low (0.011–0.04 typical; masking effect). Val loss improves then plateaus: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5818" y="1764506"/>
            <a:ext cx="6645593" cy="45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0.1761 @200 → 0.1684 @400 → 0.1651 @600 → 0.1655 @800 → 0.1640 @1000 → 0.1641 @1200 →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0.16342 @1400 (best)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0.1656 @1600 → 0.1658 @1800.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610" y="3270052"/>
            <a:ext cx="6505694" cy="390334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582" y="3270052"/>
            <a:ext cx="3804047" cy="22824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6610" y="7545705"/>
            <a:ext cx="1773674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6610" y="7980164"/>
            <a:ext cx="13637181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Plateau ~1000+, best @1400; mild overfit after 1400 (train ↓ while val flat/↑). Final train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0.1533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vs. val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~0.163–0.166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small gap (no severe overfit).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6610" y="8366760"/>
            <a:ext cx="13637181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Grads: norms tiny (1e-5–1e-3) with spikes near 800–1000 &amp; 1500; clip if not already (--max_grad_norm 1.0).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8146" y="611624"/>
            <a:ext cx="5307092" cy="451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Infra + UI (Medical AI Assistant)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146" y="1265873"/>
            <a:ext cx="902494" cy="13286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01138" y="1446371"/>
            <a:ext cx="2256234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Architecture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201138" y="1836539"/>
            <a:ext cx="6797516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backend + responsive web frontend; enhanced </a:t>
            </a:r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LRU memory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user; </a:t>
            </a:r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integration with fallback &amp; API-key rotation.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146" y="2594491"/>
            <a:ext cx="902494" cy="13286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01138" y="2774990"/>
            <a:ext cx="2256234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Core Features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7201138" y="3165158"/>
            <a:ext cx="6797516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chat UI (typing indicators/history), role-aware responses, KB integration; multi-user profiles &amp; specialties; secure isolation; themeable UI.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146" y="3923109"/>
            <a:ext cx="902494" cy="13286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01138" y="4103608"/>
            <a:ext cx="2256234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Sessions &amp; Memory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7201138" y="4493776"/>
            <a:ext cx="6797516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Multi-session, auto titles, exports; semantic retrieval over summaries; automatic context storage.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118146" y="5635228"/>
            <a:ext cx="2256234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APIs &amp; Ops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118146" y="6097667"/>
            <a:ext cx="3720108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health checks; rate limiting; graceful fallback; comprehensive logging/monitoring.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0286167" y="5635228"/>
            <a:ext cx="2256234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Tech Stack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10286167" y="6097667"/>
            <a:ext cx="3720108" cy="86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(async), HTML/CSS/JS frontend, embeddings via sentence-transformers (+ hash fallback), in-memory LRU (extensible).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118146" y="7329249"/>
            <a:ext cx="7880509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Fully functional core; production-ready patterns with/without external keys.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1254" y="456724"/>
            <a:ext cx="3286720" cy="365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RAG Experiments </a:t>
            </a:r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(Early)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11254" y="1369576"/>
            <a:ext cx="8022193" cy="1134308"/>
          </a:xfrm>
          <a:prstGeom prst="roundRect">
            <a:avLst>
              <a:gd name="adj" fmla="val 6449"/>
            </a:avLst>
          </a:prstGeom>
          <a:solidFill>
            <a:srgbClr val="292C32"/>
          </a:solidFill>
          <a:ln/>
        </p:spPr>
      </p:sp>
      <p:sp>
        <p:nvSpPr>
          <p:cNvPr id="4" name="Shape 2"/>
          <p:cNvSpPr/>
          <p:nvPr/>
        </p:nvSpPr>
        <p:spPr>
          <a:xfrm>
            <a:off x="511254" y="1354336"/>
            <a:ext cx="8022193" cy="60960"/>
          </a:xfrm>
          <a:prstGeom prst="roundRect">
            <a:avLst>
              <a:gd name="adj" fmla="val 35944"/>
            </a:avLst>
          </a:prstGeom>
          <a:solidFill>
            <a:srgbClr val="FFBC8F"/>
          </a:solidFill>
          <a:ln/>
        </p:spPr>
      </p:sp>
      <p:sp>
        <p:nvSpPr>
          <p:cNvPr id="5" name="Shape 3"/>
          <p:cNvSpPr/>
          <p:nvPr/>
        </p:nvSpPr>
        <p:spPr>
          <a:xfrm>
            <a:off x="4303276" y="1150501"/>
            <a:ext cx="438150" cy="438150"/>
          </a:xfrm>
          <a:prstGeom prst="roundRect">
            <a:avLst>
              <a:gd name="adj" fmla="val 208696"/>
            </a:avLst>
          </a:prstGeom>
          <a:solidFill>
            <a:srgbClr val="FFBC8F"/>
          </a:solidFill>
          <a:ln/>
        </p:spPr>
      </p:sp>
      <p:sp>
        <p:nvSpPr>
          <p:cNvPr id="6" name="Text 4"/>
          <p:cNvSpPr/>
          <p:nvPr/>
        </p:nvSpPr>
        <p:spPr>
          <a:xfrm>
            <a:off x="4434721" y="1260038"/>
            <a:ext cx="1752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72465" y="1734741"/>
            <a:ext cx="1825823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Retrieval Focus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465" y="2108954"/>
            <a:ext cx="7699772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Sentence-transformer variants for semantic search; initial baselines (e.g., MiniLM) for speed/quality trade-offs.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1254" y="2868930"/>
            <a:ext cx="8022193" cy="1368028"/>
          </a:xfrm>
          <a:prstGeom prst="roundRect">
            <a:avLst>
              <a:gd name="adj" fmla="val 5347"/>
            </a:avLst>
          </a:prstGeom>
          <a:solidFill>
            <a:srgbClr val="292C32"/>
          </a:solidFill>
          <a:ln/>
        </p:spPr>
      </p:sp>
      <p:sp>
        <p:nvSpPr>
          <p:cNvPr id="10" name="Shape 8"/>
          <p:cNvSpPr/>
          <p:nvPr/>
        </p:nvSpPr>
        <p:spPr>
          <a:xfrm>
            <a:off x="511254" y="2853690"/>
            <a:ext cx="8022193" cy="60960"/>
          </a:xfrm>
          <a:prstGeom prst="roundRect">
            <a:avLst>
              <a:gd name="adj" fmla="val 35944"/>
            </a:avLst>
          </a:prstGeom>
          <a:solidFill>
            <a:srgbClr val="FFBC8F"/>
          </a:solidFill>
          <a:ln/>
        </p:spPr>
      </p:sp>
      <p:sp>
        <p:nvSpPr>
          <p:cNvPr id="11" name="Shape 9"/>
          <p:cNvSpPr/>
          <p:nvPr/>
        </p:nvSpPr>
        <p:spPr>
          <a:xfrm>
            <a:off x="4303276" y="2649855"/>
            <a:ext cx="438150" cy="438150"/>
          </a:xfrm>
          <a:prstGeom prst="roundRect">
            <a:avLst>
              <a:gd name="adj" fmla="val 208696"/>
            </a:avLst>
          </a:prstGeom>
          <a:solidFill>
            <a:srgbClr val="FFBC8F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721" y="2759393"/>
            <a:ext cx="1752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2465" y="3234095"/>
            <a:ext cx="1825823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Indexing Plan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465" y="3608308"/>
            <a:ext cx="7699772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abstracts/snippets → chunking policy → embedding → upsert to vector DB (FAISS/Chroma/Qdrant/Mongo Atlas Vector).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1254" y="4602004"/>
            <a:ext cx="8022193" cy="1134308"/>
          </a:xfrm>
          <a:prstGeom prst="roundRect">
            <a:avLst>
              <a:gd name="adj" fmla="val 6449"/>
            </a:avLst>
          </a:prstGeom>
          <a:solidFill>
            <a:srgbClr val="292C32"/>
          </a:solidFill>
          <a:ln/>
        </p:spPr>
      </p:sp>
      <p:sp>
        <p:nvSpPr>
          <p:cNvPr id="16" name="Shape 14"/>
          <p:cNvSpPr/>
          <p:nvPr/>
        </p:nvSpPr>
        <p:spPr>
          <a:xfrm>
            <a:off x="511254" y="4586764"/>
            <a:ext cx="8022193" cy="60960"/>
          </a:xfrm>
          <a:prstGeom prst="roundRect">
            <a:avLst>
              <a:gd name="adj" fmla="val 35944"/>
            </a:avLst>
          </a:prstGeom>
          <a:solidFill>
            <a:srgbClr val="FFBC8F"/>
          </a:solidFill>
          <a:ln/>
        </p:spPr>
      </p:sp>
      <p:sp>
        <p:nvSpPr>
          <p:cNvPr id="17" name="Shape 15"/>
          <p:cNvSpPr/>
          <p:nvPr/>
        </p:nvSpPr>
        <p:spPr>
          <a:xfrm>
            <a:off x="4303276" y="4382929"/>
            <a:ext cx="438150" cy="438150"/>
          </a:xfrm>
          <a:prstGeom prst="roundRect">
            <a:avLst>
              <a:gd name="adj" fmla="val 208696"/>
            </a:avLst>
          </a:prstGeom>
          <a:solidFill>
            <a:srgbClr val="FFBC8F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721" y="4492466"/>
            <a:ext cx="1752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2465" y="4967168"/>
            <a:ext cx="1825823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Search Knobs to Tune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465" y="5341382"/>
            <a:ext cx="7699772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Top-k, score normalization, MMR/diversity, max context tokens per turn, citation formatting.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1254" y="6101358"/>
            <a:ext cx="8022193" cy="1134308"/>
          </a:xfrm>
          <a:prstGeom prst="roundRect">
            <a:avLst>
              <a:gd name="adj" fmla="val 6449"/>
            </a:avLst>
          </a:prstGeom>
          <a:solidFill>
            <a:srgbClr val="292C32"/>
          </a:solidFill>
          <a:ln/>
        </p:spPr>
      </p:sp>
      <p:sp>
        <p:nvSpPr>
          <p:cNvPr id="22" name="Shape 20"/>
          <p:cNvSpPr/>
          <p:nvPr/>
        </p:nvSpPr>
        <p:spPr>
          <a:xfrm>
            <a:off x="511254" y="6086118"/>
            <a:ext cx="8022193" cy="60960"/>
          </a:xfrm>
          <a:prstGeom prst="roundRect">
            <a:avLst>
              <a:gd name="adj" fmla="val 35944"/>
            </a:avLst>
          </a:prstGeom>
          <a:solidFill>
            <a:srgbClr val="FFBC8F"/>
          </a:solidFill>
          <a:ln/>
        </p:spPr>
      </p:sp>
      <p:sp>
        <p:nvSpPr>
          <p:cNvPr id="23" name="Shape 21"/>
          <p:cNvSpPr/>
          <p:nvPr/>
        </p:nvSpPr>
        <p:spPr>
          <a:xfrm>
            <a:off x="4303276" y="5882283"/>
            <a:ext cx="438150" cy="438150"/>
          </a:xfrm>
          <a:prstGeom prst="roundRect">
            <a:avLst>
              <a:gd name="adj" fmla="val 208696"/>
            </a:avLst>
          </a:prstGeom>
          <a:solidFill>
            <a:srgbClr val="FFBC8F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721" y="5991820"/>
            <a:ext cx="1752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72465" y="6466522"/>
            <a:ext cx="1825823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Chat Integration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465" y="6840736"/>
            <a:ext cx="7699772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Token-budgeting in prompt builder; retrieval-first prompting for citation-aware answers; guardrails for clinical safety.</a:t>
            </a:r>
            <a:endParaRPr lang="en-US" sz="11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303" y="1150501"/>
            <a:ext cx="5229344" cy="522934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897303" y="6544151"/>
            <a:ext cx="1825823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897303" y="6918365"/>
            <a:ext cx="5229344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golden set for retrieval quality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897303" y="7203162"/>
            <a:ext cx="5229344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encoder families (MiniLM, MPNet, med-domain models)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897303" y="7487960"/>
            <a:ext cx="5229344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Latency profiling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462" y="357068"/>
            <a:ext cx="3979069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Evidence, Artifacts &amp; What's Next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4462" y="957501"/>
            <a:ext cx="1947863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Evidence/Artifacts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4462" y="1347073"/>
            <a:ext cx="292179" cy="292179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5" name="Text 3"/>
          <p:cNvSpPr/>
          <p:nvPr/>
        </p:nvSpPr>
        <p:spPr>
          <a:xfrm>
            <a:off x="876419" y="1389221"/>
            <a:ext cx="6280428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Processed JSONLs (train/val/test)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4462" y="1898928"/>
            <a:ext cx="292179" cy="292179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7" name="Text 5"/>
          <p:cNvSpPr/>
          <p:nvPr/>
        </p:nvSpPr>
        <p:spPr>
          <a:xfrm>
            <a:off x="876419" y="1941076"/>
            <a:ext cx="6280428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4462" y="2450783"/>
            <a:ext cx="292179" cy="292179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9" name="Text 7"/>
          <p:cNvSpPr/>
          <p:nvPr/>
        </p:nvSpPr>
        <p:spPr>
          <a:xfrm>
            <a:off x="876419" y="2492931"/>
            <a:ext cx="6280428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training_log.json, loss curves PNG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4462" y="3002637"/>
            <a:ext cx="292179" cy="292179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11" name="Text 9"/>
          <p:cNvSpPr/>
          <p:nvPr/>
        </p:nvSpPr>
        <p:spPr>
          <a:xfrm>
            <a:off x="876419" y="3044785"/>
            <a:ext cx="6280428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Configs, convert_merge_split.py, finetune.py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81173" y="957501"/>
            <a:ext cx="1947863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Planned (near-term)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81173" y="1330762"/>
            <a:ext cx="6702385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Augment and keep training with alternation experiments on techniques (e.g., LR, Early Stopping)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81173" y="1583888"/>
            <a:ext cx="6702385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compact MCQ eval (A/B/C/D parse) on held-out PubMedQA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81173" y="1837015"/>
            <a:ext cx="6702385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1–2k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KD batch targeting weak areas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81173" y="2090142"/>
            <a:ext cx="6702385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Push cleaned snippets into RAG indexer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81173" y="2343269"/>
            <a:ext cx="6702385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 exact cmds/env files for audit</a:t>
            </a:r>
            <a:endParaRPr lang="en-US" sz="10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1173" y="2697123"/>
            <a:ext cx="6702385" cy="67023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2025-09-01T04:55:54Z</dcterms:created>
  <dcterms:modified xsi:type="dcterms:W3CDTF">2025-09-01T04:55:54Z</dcterms:modified>
</cp:coreProperties>
</file>