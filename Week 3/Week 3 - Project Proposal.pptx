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1_0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Poppins Light" panose="020B0604020202020204" charset="0"/>
      <p:regular r:id="rId17"/>
      <p:italic r:id="rId18"/>
    </p:embeddedFont>
    <p:embeddedFont>
      <p:font typeface="Roboto Light" panose="020B0604020202020204" charset="0"/>
      <p:regular r:id="rId19"/>
      <p: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2E51127-6D9E-8AF8-93F2-3F23E52DF2DA}" name="DANG KHOA LE" initials="DL" userId="S::103844421@student.swin.edu.au::1f5f457a-11fb-4a79-9dec-fe88eead2d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05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720B16-EB05-5BCA-2B38-EDF97F9DCFEC}" v="2" dt="2025-08-17T10:48:28.701"/>
    <p1510:client id="{5F5D0F76-EA31-6E51-161E-848E7A42B507}" v="174" dt="2025-08-17T10:58:52.0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G KHOA LE" userId="S::103844421@student.swin.edu.au::1f5f457a-11fb-4a79-9dec-fe88eead2d27" providerId="AD" clId="Web-{5F5D0F76-EA31-6E51-161E-848E7A42B507}"/>
    <pc:docChg chg="mod modSld">
      <pc:chgData name="DANG KHOA LE" userId="S::103844421@student.swin.edu.au::1f5f457a-11fb-4a79-9dec-fe88eead2d27" providerId="AD" clId="Web-{5F5D0F76-EA31-6E51-161E-848E7A42B507}" dt="2025-08-17T10:58:52.010" v="162" actId="1076"/>
      <pc:docMkLst>
        <pc:docMk/>
      </pc:docMkLst>
      <pc:sldChg chg="addSp delSp modSp">
        <pc:chgData name="DANG KHOA LE" userId="S::103844421@student.swin.edu.au::1f5f457a-11fb-4a79-9dec-fe88eead2d27" providerId="AD" clId="Web-{5F5D0F76-EA31-6E51-161E-848E7A42B507}" dt="2025-08-17T10:57:15.240" v="160" actId="1076"/>
        <pc:sldMkLst>
          <pc:docMk/>
          <pc:sldMk cId="0" sldId="257"/>
        </pc:sldMkLst>
        <pc:spChg chg="mod">
          <ac:chgData name="DANG KHOA LE" userId="S::103844421@student.swin.edu.au::1f5f457a-11fb-4a79-9dec-fe88eead2d27" providerId="AD" clId="Web-{5F5D0F76-EA31-6E51-161E-848E7A42B507}" dt="2025-08-17T10:55:05.953" v="151" actId="14100"/>
          <ac:spMkLst>
            <pc:docMk/>
            <pc:sldMk cId="0" sldId="257"/>
            <ac:spMk id="2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57:15.240" v="160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49:10.749" v="51"/>
          <ac:spMkLst>
            <pc:docMk/>
            <pc:sldMk cId="0" sldId="257"/>
            <ac:spMk id="4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49:10.781" v="52"/>
          <ac:spMkLst>
            <pc:docMk/>
            <pc:sldMk cId="0" sldId="257"/>
            <ac:spMk id="5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49:10.827" v="53"/>
          <ac:spMkLst>
            <pc:docMk/>
            <pc:sldMk cId="0" sldId="257"/>
            <ac:spMk id="6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49:10.859" v="54"/>
          <ac:spMkLst>
            <pc:docMk/>
            <pc:sldMk cId="0" sldId="257"/>
            <ac:spMk id="8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49:10.906" v="55"/>
          <ac:spMkLst>
            <pc:docMk/>
            <pc:sldMk cId="0" sldId="257"/>
            <ac:spMk id="9" creationId="{00000000-0000-0000-0000-000000000000}"/>
          </ac:spMkLst>
        </pc:spChg>
        <pc:spChg chg="del">
          <ac:chgData name="DANG KHOA LE" userId="S::103844421@student.swin.edu.au::1f5f457a-11fb-4a79-9dec-fe88eead2d27" providerId="AD" clId="Web-{5F5D0F76-EA31-6E51-161E-848E7A42B507}" dt="2025-08-17T10:52:22.571" v="116"/>
          <ac:spMkLst>
            <pc:docMk/>
            <pc:sldMk cId="0" sldId="257"/>
            <ac:spMk id="10" creationId="{A0131F84-53B4-3721-A0C8-367F2E9353A3}"/>
          </ac:spMkLst>
        </pc:spChg>
        <pc:spChg chg="add">
          <ac:chgData name="DANG KHOA LE" userId="S::103844421@student.swin.edu.au::1f5f457a-11fb-4a79-9dec-fe88eead2d27" providerId="AD" clId="Web-{5F5D0F76-EA31-6E51-161E-848E7A42B507}" dt="2025-08-17T10:52:22.946" v="117"/>
          <ac:spMkLst>
            <pc:docMk/>
            <pc:sldMk cId="0" sldId="257"/>
            <ac:spMk id="12" creationId="{BA7EC89E-6066-733D-D6F1-68936637ABDB}"/>
          </ac:spMkLst>
        </pc:spChg>
      </pc:sldChg>
      <pc:sldChg chg="addSp delSp modSp">
        <pc:chgData name="DANG KHOA LE" userId="S::103844421@student.swin.edu.au::1f5f457a-11fb-4a79-9dec-fe88eead2d27" providerId="AD" clId="Web-{5F5D0F76-EA31-6E51-161E-848E7A42B507}" dt="2025-08-17T10:57:01.427" v="159" actId="20577"/>
        <pc:sldMkLst>
          <pc:docMk/>
          <pc:sldMk cId="0" sldId="258"/>
        </pc:sldMkLst>
        <pc:spChg chg="mod">
          <ac:chgData name="DANG KHOA LE" userId="S::103844421@student.swin.edu.au::1f5f457a-11fb-4a79-9dec-fe88eead2d27" providerId="AD" clId="Web-{5F5D0F76-EA31-6E51-161E-848E7A42B507}" dt="2025-08-17T10:49:40.001" v="58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49:44.001" v="61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57:01.427" v="159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49:45.938" v="64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49:49.298" v="67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49:52.407" v="72" actId="20577"/>
          <ac:spMkLst>
            <pc:docMk/>
            <pc:sldMk cId="0" sldId="258"/>
            <ac:spMk id="18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49:56.673" v="75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50:01.111" v="81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50:03.986" v="82" actId="20577"/>
          <ac:spMkLst>
            <pc:docMk/>
            <pc:sldMk cId="0" sldId="258"/>
            <ac:spMk id="24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50:06.971" v="84" actId="20577"/>
          <ac:spMkLst>
            <pc:docMk/>
            <pc:sldMk cId="0" sldId="258"/>
            <ac:spMk id="28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50:15.330" v="93" actId="20577"/>
          <ac:spMkLst>
            <pc:docMk/>
            <pc:sldMk cId="0" sldId="258"/>
            <ac:spMk id="29" creationId="{00000000-0000-0000-0000-000000000000}"/>
          </ac:spMkLst>
        </pc:spChg>
        <pc:spChg chg="del">
          <ac:chgData name="DANG KHOA LE" userId="S::103844421@student.swin.edu.au::1f5f457a-11fb-4a79-9dec-fe88eead2d27" providerId="AD" clId="Web-{5F5D0F76-EA31-6E51-161E-848E7A42B507}" dt="2025-08-17T10:52:25.555" v="118"/>
          <ac:spMkLst>
            <pc:docMk/>
            <pc:sldMk cId="0" sldId="258"/>
            <ac:spMk id="31" creationId="{64E4DD8D-EE0D-D0A2-0FBC-8BB4F38BE5FF}"/>
          </ac:spMkLst>
        </pc:spChg>
        <pc:spChg chg="add">
          <ac:chgData name="DANG KHOA LE" userId="S::103844421@student.swin.edu.au::1f5f457a-11fb-4a79-9dec-fe88eead2d27" providerId="AD" clId="Web-{5F5D0F76-EA31-6E51-161E-848E7A42B507}" dt="2025-08-17T10:52:25.914" v="119"/>
          <ac:spMkLst>
            <pc:docMk/>
            <pc:sldMk cId="0" sldId="258"/>
            <ac:spMk id="33" creationId="{932A604D-F603-EE95-7E51-09F474DB60DE}"/>
          </ac:spMkLst>
        </pc:spChg>
      </pc:sldChg>
      <pc:sldChg chg="addSp delSp">
        <pc:chgData name="DANG KHOA LE" userId="S::103844421@student.swin.edu.au::1f5f457a-11fb-4a79-9dec-fe88eead2d27" providerId="AD" clId="Web-{5F5D0F76-EA31-6E51-161E-848E7A42B507}" dt="2025-08-17T10:52:28.790" v="121"/>
        <pc:sldMkLst>
          <pc:docMk/>
          <pc:sldMk cId="0" sldId="259"/>
        </pc:sldMkLst>
        <pc:spChg chg="del">
          <ac:chgData name="DANG KHOA LE" userId="S::103844421@student.swin.edu.au::1f5f457a-11fb-4a79-9dec-fe88eead2d27" providerId="AD" clId="Web-{5F5D0F76-EA31-6E51-161E-848E7A42B507}" dt="2025-08-17T10:52:28.368" v="120"/>
          <ac:spMkLst>
            <pc:docMk/>
            <pc:sldMk cId="0" sldId="259"/>
            <ac:spMk id="15" creationId="{5DBDA921-87DD-BCF1-AA56-6F67D3616E55}"/>
          </ac:spMkLst>
        </pc:spChg>
        <pc:spChg chg="add">
          <ac:chgData name="DANG KHOA LE" userId="S::103844421@student.swin.edu.au::1f5f457a-11fb-4a79-9dec-fe88eead2d27" providerId="AD" clId="Web-{5F5D0F76-EA31-6E51-161E-848E7A42B507}" dt="2025-08-17T10:52:28.790" v="121"/>
          <ac:spMkLst>
            <pc:docMk/>
            <pc:sldMk cId="0" sldId="259"/>
            <ac:spMk id="17" creationId="{8A4DFC1C-7349-A7BE-9E0F-D4E9D0C85F19}"/>
          </ac:spMkLst>
        </pc:spChg>
      </pc:sldChg>
      <pc:sldChg chg="modSp">
        <pc:chgData name="DANG KHOA LE" userId="S::103844421@student.swin.edu.au::1f5f457a-11fb-4a79-9dec-fe88eead2d27" providerId="AD" clId="Web-{5F5D0F76-EA31-6E51-161E-848E7A42B507}" dt="2025-08-17T10:54:55.687" v="149" actId="14100"/>
        <pc:sldMkLst>
          <pc:docMk/>
          <pc:sldMk cId="0" sldId="260"/>
        </pc:sldMkLst>
        <pc:spChg chg="mod">
          <ac:chgData name="DANG KHOA LE" userId="S::103844421@student.swin.edu.au::1f5f457a-11fb-4a79-9dec-fe88eead2d27" providerId="AD" clId="Web-{5F5D0F76-EA31-6E51-161E-848E7A42B507}" dt="2025-08-17T10:54:55.687" v="149" actId="14100"/>
          <ac:spMkLst>
            <pc:docMk/>
            <pc:sldMk cId="0" sldId="260"/>
            <ac:spMk id="2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47:42.730" v="19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47:42.745" v="20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47:42.761" v="21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50:57.239" v="102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51:03.129" v="103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51:48.710" v="112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51:54.226" v="114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52:11.711" v="115"/>
          <ac:spMkLst>
            <pc:docMk/>
            <pc:sldMk cId="0" sldId="260"/>
            <ac:spMk id="12" creationId="{C2F6E3AF-F5AF-2C2D-0DAE-095C28CCBA0E}"/>
          </ac:spMkLst>
        </pc:spChg>
        <pc:picChg chg="mod">
          <ac:chgData name="DANG KHOA LE" userId="S::103844421@student.swin.edu.au::1f5f457a-11fb-4a79-9dec-fe88eead2d27" providerId="AD" clId="Web-{5F5D0F76-EA31-6E51-161E-848E7A42B507}" dt="2025-08-17T10:47:48.167" v="23" actId="1076"/>
          <ac:picMkLst>
            <pc:docMk/>
            <pc:sldMk cId="0" sldId="260"/>
            <ac:picMk id="4" creationId="{00000000-0000-0000-0000-000000000000}"/>
          </ac:picMkLst>
        </pc:picChg>
      </pc:sldChg>
      <pc:sldChg chg="addSp delSp">
        <pc:chgData name="DANG KHOA LE" userId="S::103844421@student.swin.edu.au::1f5f457a-11fb-4a79-9dec-fe88eead2d27" providerId="AD" clId="Web-{5F5D0F76-EA31-6E51-161E-848E7A42B507}" dt="2025-08-17T10:52:34.540" v="123"/>
        <pc:sldMkLst>
          <pc:docMk/>
          <pc:sldMk cId="0" sldId="261"/>
        </pc:sldMkLst>
        <pc:spChg chg="del">
          <ac:chgData name="DANG KHOA LE" userId="S::103844421@student.swin.edu.au::1f5f457a-11fb-4a79-9dec-fe88eead2d27" providerId="AD" clId="Web-{5F5D0F76-EA31-6E51-161E-848E7A42B507}" dt="2025-08-17T10:52:34.134" v="122"/>
          <ac:spMkLst>
            <pc:docMk/>
            <pc:sldMk cId="0" sldId="261"/>
            <ac:spMk id="17" creationId="{24F7827E-1F5C-9CC5-3B83-4D3697D04E20}"/>
          </ac:spMkLst>
        </pc:spChg>
        <pc:spChg chg="add">
          <ac:chgData name="DANG KHOA LE" userId="S::103844421@student.swin.edu.au::1f5f457a-11fb-4a79-9dec-fe88eead2d27" providerId="AD" clId="Web-{5F5D0F76-EA31-6E51-161E-848E7A42B507}" dt="2025-08-17T10:52:34.540" v="123"/>
          <ac:spMkLst>
            <pc:docMk/>
            <pc:sldMk cId="0" sldId="261"/>
            <ac:spMk id="19" creationId="{72111579-01C5-2412-D580-B21DA072DD8D}"/>
          </ac:spMkLst>
        </pc:spChg>
      </pc:sldChg>
      <pc:sldChg chg="addSp delSp modSp">
        <pc:chgData name="DANG KHOA LE" userId="S::103844421@student.swin.edu.au::1f5f457a-11fb-4a79-9dec-fe88eead2d27" providerId="AD" clId="Web-{5F5D0F76-EA31-6E51-161E-848E7A42B507}" dt="2025-08-17T10:54:43.905" v="147" actId="1076"/>
        <pc:sldMkLst>
          <pc:docMk/>
          <pc:sldMk cId="0" sldId="262"/>
        </pc:sldMkLst>
        <pc:spChg chg="mod">
          <ac:chgData name="DANG KHOA LE" userId="S::103844421@student.swin.edu.au::1f5f457a-11fb-4a79-9dec-fe88eead2d27" providerId="AD" clId="Web-{5F5D0F76-EA31-6E51-161E-848E7A42B507}" dt="2025-08-17T10:54:31.342" v="145" actId="14100"/>
          <ac:spMkLst>
            <pc:docMk/>
            <pc:sldMk cId="0" sldId="262"/>
            <ac:spMk id="2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54:37.592" v="146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54:43.905" v="147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48:15.794" v="42" actId="14100"/>
          <ac:spMkLst>
            <pc:docMk/>
            <pc:sldMk cId="0" sldId="262"/>
            <ac:spMk id="6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53:44.824" v="139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48:15.794" v="38" actId="14100"/>
          <ac:spMkLst>
            <pc:docMk/>
            <pc:sldMk cId="0" sldId="262"/>
            <ac:spMk id="10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53:39.262" v="138" actId="1076"/>
          <ac:spMkLst>
            <pc:docMk/>
            <pc:sldMk cId="0" sldId="262"/>
            <ac:spMk id="12" creationId="{00000000-0000-0000-0000-000000000000}"/>
          </ac:spMkLst>
        </pc:spChg>
        <pc:spChg chg="del">
          <ac:chgData name="DANG KHOA LE" userId="S::103844421@student.swin.edu.au::1f5f457a-11fb-4a79-9dec-fe88eead2d27" providerId="AD" clId="Web-{5F5D0F76-EA31-6E51-161E-848E7A42B507}" dt="2025-08-17T10:52:38.024" v="124"/>
          <ac:spMkLst>
            <pc:docMk/>
            <pc:sldMk cId="0" sldId="262"/>
            <ac:spMk id="19" creationId="{2ADC48D3-3632-AC22-2DAF-8CD5A60802FF}"/>
          </ac:spMkLst>
        </pc:spChg>
        <pc:spChg chg="add">
          <ac:chgData name="DANG KHOA LE" userId="S::103844421@student.swin.edu.au::1f5f457a-11fb-4a79-9dec-fe88eead2d27" providerId="AD" clId="Web-{5F5D0F76-EA31-6E51-161E-848E7A42B507}" dt="2025-08-17T10:52:38.321" v="125"/>
          <ac:spMkLst>
            <pc:docMk/>
            <pc:sldMk cId="0" sldId="262"/>
            <ac:spMk id="21" creationId="{07827074-E974-23BF-F7D4-70ACD4D27D38}"/>
          </ac:spMkLst>
        </pc:spChg>
        <pc:picChg chg="mod">
          <ac:chgData name="DANG KHOA LE" userId="S::103844421@student.swin.edu.au::1f5f457a-11fb-4a79-9dec-fe88eead2d27" providerId="AD" clId="Web-{5F5D0F76-EA31-6E51-161E-848E7A42B507}" dt="2025-08-17T10:48:15.794" v="43" actId="14100"/>
          <ac:picMkLst>
            <pc:docMk/>
            <pc:sldMk cId="0" sldId="262"/>
            <ac:picMk id="5" creationId="{00000000-0000-0000-0000-000000000000}"/>
          </ac:picMkLst>
        </pc:picChg>
        <pc:picChg chg="mod">
          <ac:chgData name="DANG KHOA LE" userId="S::103844421@student.swin.edu.au::1f5f457a-11fb-4a79-9dec-fe88eead2d27" providerId="AD" clId="Web-{5F5D0F76-EA31-6E51-161E-848E7A42B507}" dt="2025-08-17T10:48:15.794" v="41" actId="14100"/>
          <ac:picMkLst>
            <pc:docMk/>
            <pc:sldMk cId="0" sldId="262"/>
            <ac:picMk id="7" creationId="{00000000-0000-0000-0000-000000000000}"/>
          </ac:picMkLst>
        </pc:picChg>
        <pc:picChg chg="mod">
          <ac:chgData name="DANG KHOA LE" userId="S::103844421@student.swin.edu.au::1f5f457a-11fb-4a79-9dec-fe88eead2d27" providerId="AD" clId="Web-{5F5D0F76-EA31-6E51-161E-848E7A42B507}" dt="2025-08-17T10:48:15.794" v="39" actId="14100"/>
          <ac:picMkLst>
            <pc:docMk/>
            <pc:sldMk cId="0" sldId="262"/>
            <ac:picMk id="9" creationId="{00000000-0000-0000-0000-000000000000}"/>
          </ac:picMkLst>
        </pc:picChg>
        <pc:picChg chg="mod">
          <ac:chgData name="DANG KHOA LE" userId="S::103844421@student.swin.edu.au::1f5f457a-11fb-4a79-9dec-fe88eead2d27" providerId="AD" clId="Web-{5F5D0F76-EA31-6E51-161E-848E7A42B507}" dt="2025-08-17T10:48:15.794" v="37" actId="14100"/>
          <ac:picMkLst>
            <pc:docMk/>
            <pc:sldMk cId="0" sldId="262"/>
            <ac:picMk id="11" creationId="{00000000-0000-0000-0000-000000000000}"/>
          </ac:picMkLst>
        </pc:picChg>
        <pc:picChg chg="mod">
          <ac:chgData name="DANG KHOA LE" userId="S::103844421@student.swin.edu.au::1f5f457a-11fb-4a79-9dec-fe88eead2d27" providerId="AD" clId="Web-{5F5D0F76-EA31-6E51-161E-848E7A42B507}" dt="2025-08-17T10:48:15.794" v="35" actId="14100"/>
          <ac:picMkLst>
            <pc:docMk/>
            <pc:sldMk cId="0" sldId="262"/>
            <ac:picMk id="13" creationId="{00000000-0000-0000-0000-000000000000}"/>
          </ac:picMkLst>
        </pc:picChg>
      </pc:sldChg>
      <pc:sldChg chg="addSp delSp modSp">
        <pc:chgData name="DANG KHOA LE" userId="S::103844421@student.swin.edu.au::1f5f457a-11fb-4a79-9dec-fe88eead2d27" providerId="AD" clId="Web-{5F5D0F76-EA31-6E51-161E-848E7A42B507}" dt="2025-08-17T10:58:52.010" v="162" actId="1076"/>
        <pc:sldMkLst>
          <pc:docMk/>
          <pc:sldMk cId="0" sldId="263"/>
        </pc:sldMkLst>
        <pc:spChg chg="del">
          <ac:chgData name="DANG KHOA LE" userId="S::103844421@student.swin.edu.au::1f5f457a-11fb-4a79-9dec-fe88eead2d27" providerId="AD" clId="Web-{5F5D0F76-EA31-6E51-161E-848E7A42B507}" dt="2025-08-17T10:52:41.353" v="126"/>
          <ac:spMkLst>
            <pc:docMk/>
            <pc:sldMk cId="0" sldId="263"/>
            <ac:spMk id="11" creationId="{371DA73E-962E-AA4F-5E4D-C29DB0045223}"/>
          </ac:spMkLst>
        </pc:spChg>
        <pc:spChg chg="add">
          <ac:chgData name="DANG KHOA LE" userId="S::103844421@student.swin.edu.au::1f5f457a-11fb-4a79-9dec-fe88eead2d27" providerId="AD" clId="Web-{5F5D0F76-EA31-6E51-161E-848E7A42B507}" dt="2025-08-17T10:52:41.665" v="127"/>
          <ac:spMkLst>
            <pc:docMk/>
            <pc:sldMk cId="0" sldId="263"/>
            <ac:spMk id="13" creationId="{6FE92D04-FEFE-C4DA-D53D-A07712E4DEBB}"/>
          </ac:spMkLst>
        </pc:spChg>
        <pc:picChg chg="mod">
          <ac:chgData name="DANG KHOA LE" userId="S::103844421@student.swin.edu.au::1f5f457a-11fb-4a79-9dec-fe88eead2d27" providerId="AD" clId="Web-{5F5D0F76-EA31-6E51-161E-848E7A42B507}" dt="2025-08-17T10:58:52.010" v="162" actId="1076"/>
          <ac:picMkLst>
            <pc:docMk/>
            <pc:sldMk cId="0" sldId="263"/>
            <ac:picMk id="10" creationId="{00000000-0000-0000-0000-000000000000}"/>
          </ac:picMkLst>
        </pc:picChg>
      </pc:sldChg>
      <pc:sldChg chg="addSp delSp">
        <pc:chgData name="DANG KHOA LE" userId="S::103844421@student.swin.edu.au::1f5f457a-11fb-4a79-9dec-fe88eead2d27" providerId="AD" clId="Web-{5F5D0F76-EA31-6E51-161E-848E7A42B507}" dt="2025-08-17T10:52:45.040" v="129"/>
        <pc:sldMkLst>
          <pc:docMk/>
          <pc:sldMk cId="0" sldId="264"/>
        </pc:sldMkLst>
        <pc:spChg chg="del">
          <ac:chgData name="DANG KHOA LE" userId="S::103844421@student.swin.edu.au::1f5f457a-11fb-4a79-9dec-fe88eead2d27" providerId="AD" clId="Web-{5F5D0F76-EA31-6E51-161E-848E7A42B507}" dt="2025-08-17T10:52:44.681" v="128"/>
          <ac:spMkLst>
            <pc:docMk/>
            <pc:sldMk cId="0" sldId="264"/>
            <ac:spMk id="22" creationId="{34045E12-CF5B-9A06-914F-A7A2915A0664}"/>
          </ac:spMkLst>
        </pc:spChg>
        <pc:spChg chg="add">
          <ac:chgData name="DANG KHOA LE" userId="S::103844421@student.swin.edu.au::1f5f457a-11fb-4a79-9dec-fe88eead2d27" providerId="AD" clId="Web-{5F5D0F76-EA31-6E51-161E-848E7A42B507}" dt="2025-08-17T10:52:45.040" v="129"/>
          <ac:spMkLst>
            <pc:docMk/>
            <pc:sldMk cId="0" sldId="264"/>
            <ac:spMk id="24" creationId="{5F34154A-1CB9-9754-9D70-45AC5D271CA0}"/>
          </ac:spMkLst>
        </pc:spChg>
      </pc:sldChg>
      <pc:sldChg chg="addSp delSp modSp">
        <pc:chgData name="DANG KHOA LE" userId="S::103844421@student.swin.edu.au::1f5f457a-11fb-4a79-9dec-fe88eead2d27" providerId="AD" clId="Web-{5F5D0F76-EA31-6E51-161E-848E7A42B507}" dt="2025-08-17T10:53:00.822" v="137" actId="1076"/>
        <pc:sldMkLst>
          <pc:docMk/>
          <pc:sldMk cId="0" sldId="265"/>
        </pc:sldMkLst>
        <pc:spChg chg="mod">
          <ac:chgData name="DANG KHOA LE" userId="S::103844421@student.swin.edu.au::1f5f457a-11fb-4a79-9dec-fe88eead2d27" providerId="AD" clId="Web-{5F5D0F76-EA31-6E51-161E-848E7A42B507}" dt="2025-08-17T10:52:53.338" v="133" actId="107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53:00.791" v="136" actId="1076"/>
          <ac:spMkLst>
            <pc:docMk/>
            <pc:sldMk cId="0" sldId="265"/>
            <ac:spMk id="18" creationId="{00000000-0000-0000-0000-000000000000}"/>
          </ac:spMkLst>
        </pc:spChg>
        <pc:spChg chg="mod">
          <ac:chgData name="DANG KHOA LE" userId="S::103844421@student.swin.edu.au::1f5f457a-11fb-4a79-9dec-fe88eead2d27" providerId="AD" clId="Web-{5F5D0F76-EA31-6E51-161E-848E7A42B507}" dt="2025-08-17T10:53:00.822" v="137" actId="1076"/>
          <ac:spMkLst>
            <pc:docMk/>
            <pc:sldMk cId="0" sldId="265"/>
            <ac:spMk id="19" creationId="{00000000-0000-0000-0000-000000000000}"/>
          </ac:spMkLst>
        </pc:spChg>
        <pc:spChg chg="del">
          <ac:chgData name="DANG KHOA LE" userId="S::103844421@student.swin.edu.au::1f5f457a-11fb-4a79-9dec-fe88eead2d27" providerId="AD" clId="Web-{5F5D0F76-EA31-6E51-161E-848E7A42B507}" dt="2025-08-17T10:52:47.540" v="130"/>
          <ac:spMkLst>
            <pc:docMk/>
            <pc:sldMk cId="0" sldId="265"/>
            <ac:spMk id="28" creationId="{49A3EDF1-7043-B7A4-CB84-C6D5FC787646}"/>
          </ac:spMkLst>
        </pc:spChg>
        <pc:spChg chg="add">
          <ac:chgData name="DANG KHOA LE" userId="S::103844421@student.swin.edu.au::1f5f457a-11fb-4a79-9dec-fe88eead2d27" providerId="AD" clId="Web-{5F5D0F76-EA31-6E51-161E-848E7A42B507}" dt="2025-08-17T10:52:47.837" v="131"/>
          <ac:spMkLst>
            <pc:docMk/>
            <pc:sldMk cId="0" sldId="265"/>
            <ac:spMk id="30" creationId="{1FA0E212-25DC-4D48-8C74-5B7334BFD1EA}"/>
          </ac:spMkLst>
        </pc:spChg>
      </pc:sldChg>
    </pc:docChg>
  </pc:docChgLst>
  <pc:docChgLst>
    <pc:chgData name="HENRY NGUYEN" userId="S::103807246@student.swin.edu.au::ff2c5dde-63fd-4216-88f7-b035a4f7b7bb" providerId="AD" clId="Web-{25720B16-EB05-5BCA-2B38-EDF97F9DCFEC}"/>
    <pc:docChg chg="modSld">
      <pc:chgData name="HENRY NGUYEN" userId="S::103807246@student.swin.edu.au::ff2c5dde-63fd-4216-88f7-b035a4f7b7bb" providerId="AD" clId="Web-{25720B16-EB05-5BCA-2B38-EDF97F9DCFEC}" dt="2025-08-17T10:48:28.701" v="1" actId="1076"/>
      <pc:docMkLst>
        <pc:docMk/>
      </pc:docMkLst>
      <pc:sldChg chg="modSp">
        <pc:chgData name="HENRY NGUYEN" userId="S::103807246@student.swin.edu.au::ff2c5dde-63fd-4216-88f7-b035a4f7b7bb" providerId="AD" clId="Web-{25720B16-EB05-5BCA-2B38-EDF97F9DCFEC}" dt="2025-08-17T10:48:28.701" v="1" actId="1076"/>
        <pc:sldMkLst>
          <pc:docMk/>
          <pc:sldMk cId="0" sldId="257"/>
        </pc:sldMkLst>
        <pc:spChg chg="mod">
          <ac:chgData name="HENRY NGUYEN" userId="S::103807246@student.swin.edu.au::ff2c5dde-63fd-4216-88f7-b035a4f7b7bb" providerId="AD" clId="Web-{25720B16-EB05-5BCA-2B38-EDF97F9DCFEC}" dt="2025-08-17T10:48:23.591" v="0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HENRY NGUYEN" userId="S::103807246@student.swin.edu.au::ff2c5dde-63fd-4216-88f7-b035a4f7b7bb" providerId="AD" clId="Web-{25720B16-EB05-5BCA-2B38-EDF97F9DCFEC}" dt="2025-08-17T10:48:28.701" v="1" actId="1076"/>
          <ac:spMkLst>
            <pc:docMk/>
            <pc:sldMk cId="0" sldId="257"/>
            <ac:spMk id="9" creationId="{00000000-0000-0000-0000-000000000000}"/>
          </ac:spMkLst>
        </pc:spChg>
      </pc:sldChg>
    </pc:docChg>
  </pc:docChgLst>
</pc:chgInfo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BA15109-A6FF-4675-88E8-BEB2D3F70A50}" authorId="{D2E51127-6D9E-8AF8-93F2-3F23E52DF2DA}" created="2025-08-17T10:55:28.25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3" creationId="{00000000-0000-0000-0000-000000000000}"/>
      <ac:txMk cp="11" len="4">
        <ac:context len="24" hash="2476485691"/>
      </ac:txMk>
    </ac:txMkLst>
    <p188:pos x="2438400" y="304800"/>
    <p188:txBody>
      <a:bodyPr/>
      <a:lstStyle/>
      <a:p>
        <a:r>
          <a:rPr lang="en-US"/>
          <a:t>Minimum Viable Product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9685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1081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Advancing Medical AI: A New AI Assistant for Clinicians</a:t>
            </a:r>
            <a:endParaRPr lang="en-US" sz="3900"/>
          </a:p>
        </p:txBody>
      </p:sp>
      <p:sp>
        <p:nvSpPr>
          <p:cNvPr id="4" name="Text 1"/>
          <p:cNvSpPr/>
          <p:nvPr/>
        </p:nvSpPr>
        <p:spPr>
          <a:xfrm>
            <a:off x="793790" y="4248626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This presentation outlines the development of an AI-powered assistant designed to support medical professionals. Our goal is to deliver a safe, factual, and deployable Minimum Viable Product (MVP) within four weeks, integrating advanced AI capabilities with existing Electronic Medical Records (EMR).</a:t>
            </a:r>
            <a:endParaRPr lang="en-US" sz="15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6492" y="398134"/>
            <a:ext cx="2846589" cy="9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850">
                <a:solidFill>
                  <a:srgbClr val="F2F2F3"/>
                </a:solidFill>
                <a:latin typeface="Poppins Light"/>
                <a:ea typeface="Poppins Light" pitchFamily="34" charset="-122"/>
                <a:cs typeface="Poppins Light"/>
              </a:rPr>
              <a:t>Executive Overview</a:t>
            </a:r>
            <a:endParaRPr lang="en-US" sz="1850">
              <a:latin typeface="Poppins Light"/>
              <a:ea typeface="Calibri"/>
              <a:cs typeface="Poppins Light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6492" y="741714"/>
            <a:ext cx="3858578" cy="395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Dual-Track MVP Strategy</a:t>
            </a:r>
            <a:endParaRPr lang="en-US" sz="2450"/>
          </a:p>
        </p:txBody>
      </p:sp>
      <p:sp>
        <p:nvSpPr>
          <p:cNvPr id="4" name="Text 2"/>
          <p:cNvSpPr/>
          <p:nvPr/>
        </p:nvSpPr>
        <p:spPr>
          <a:xfrm>
            <a:off x="506492" y="1654828"/>
            <a:ext cx="6654284" cy="20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1550"/>
              </a:lnSpc>
              <a:buNone/>
            </a:pPr>
            <a:r>
              <a:rPr lang="en-US" sz="14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Our MVP is structured around two parallel development tracks, designed to maximise impact and accelerate delivery: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506492" y="2387053"/>
            <a:ext cx="6654284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140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Agentic RAG System:</a:t>
            </a:r>
            <a:r>
              <a:rPr lang="en-US" sz="14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 sophisticated Retrieval-Augmented Generation (RAG) system operating over a curated medical knowledge base (RAGDB). This includes Short-Term Memory (STM) and Long-Term Memory (LTM) capabilities for enhanced contextual understanding.</a:t>
            </a:r>
            <a:endParaRPr lang="en-US" sz="14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6492" y="3538041"/>
            <a:ext cx="6654284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140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Symptom-to-Diagnosis Assistant:</a:t>
            </a:r>
            <a:r>
              <a:rPr lang="en-US" sz="14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 lightweight student model, distilled from larger, more powerful teacher models like Gemini and MedGemma, focusing on efficient symptom-to-diagnosis inference.</a:t>
            </a:r>
            <a:endParaRPr lang="en-US" sz="14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444" y="447199"/>
            <a:ext cx="6654284" cy="66542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6702" y="4483463"/>
            <a:ext cx="6654284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140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EMR Retrieval POC:</a:t>
            </a:r>
            <a:r>
              <a:rPr lang="en-US" sz="14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We are developing a Proof of Concept (POC) for secure EMR retrieval, ensuring strict privacy and compliance safeguards are in place from the outset.</a:t>
            </a:r>
            <a:endParaRPr lang="en-US" sz="14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6702" y="5420936"/>
            <a:ext cx="6654284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140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Initial Fine-Tuning &amp; Augmentation:</a:t>
            </a:r>
            <a:r>
              <a:rPr lang="en-US" sz="14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Comprehensive experiments on model fine-tuning and data augmentation have already been completed, laying the groundwork for robust performance.</a:t>
            </a:r>
            <a:endParaRPr lang="en-US" sz="14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A7EC89E-6066-733D-D6F1-68936637ABDB}"/>
              </a:ext>
            </a:extLst>
          </p:cNvPr>
          <p:cNvSpPr/>
          <p:nvPr/>
        </p:nvSpPr>
        <p:spPr>
          <a:xfrm>
            <a:off x="12750800" y="7760057"/>
            <a:ext cx="1879600" cy="469543"/>
          </a:xfrm>
          <a:prstGeom prst="roundRect">
            <a:avLst/>
          </a:prstGeom>
          <a:solidFill>
            <a:srgbClr val="0505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75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Team &amp; Structure</a:t>
            </a:r>
            <a:endParaRPr lang="en-US" sz="1950"/>
          </a:p>
        </p:txBody>
      </p:sp>
      <p:sp>
        <p:nvSpPr>
          <p:cNvPr id="3" name="Text 1"/>
          <p:cNvSpPr/>
          <p:nvPr/>
        </p:nvSpPr>
        <p:spPr>
          <a:xfrm>
            <a:off x="793790" y="2046089"/>
            <a:ext cx="822102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Streamlined Development Teams</a:t>
            </a:r>
            <a:endParaRPr lang="en-US" sz="3900"/>
          </a:p>
        </p:txBody>
      </p:sp>
      <p:sp>
        <p:nvSpPr>
          <p:cNvPr id="4" name="Text 2"/>
          <p:cNvSpPr/>
          <p:nvPr/>
        </p:nvSpPr>
        <p:spPr>
          <a:xfrm>
            <a:off x="793790" y="296382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Our project is organised into distinct streams, each with primary and support members, ensuring clear ownership and efficient execution for the Medical AI Assistant MVP.</a:t>
            </a:r>
            <a:endParaRPr lang="en-US" sz="1550"/>
          </a:p>
        </p:txBody>
      </p:sp>
      <p:sp>
        <p:nvSpPr>
          <p:cNvPr id="5" name="Shape 3"/>
          <p:cNvSpPr/>
          <p:nvPr/>
        </p:nvSpPr>
        <p:spPr>
          <a:xfrm>
            <a:off x="793790" y="3822144"/>
            <a:ext cx="13042821" cy="2869763"/>
          </a:xfrm>
          <a:prstGeom prst="roundRect">
            <a:avLst>
              <a:gd name="adj" fmla="val 290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1410" y="3829764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0006" y="3956447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A. Infra &amp; Orchestration</a:t>
            </a:r>
            <a:endParaRPr lang="en-US" sz="1550"/>
          </a:p>
        </p:txBody>
      </p:sp>
      <p:sp>
        <p:nvSpPr>
          <p:cNvPr id="8" name="Text 6"/>
          <p:cNvSpPr/>
          <p:nvPr/>
        </p:nvSpPr>
        <p:spPr>
          <a:xfrm>
            <a:off x="3609261" y="3956447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Dylan</a:t>
            </a: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63314" y="3956447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Vinh</a:t>
            </a:r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17368" y="3956447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err="1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FastAPI</a:t>
            </a:r>
            <a:r>
              <a:rPr lang="en-US" sz="155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 + Docker + RAGDB setup for scalable deployment</a:t>
            </a:r>
            <a:endParaRPr lang="en-US" sz="1550">
              <a:latin typeface="Roboto Light"/>
              <a:ea typeface="Roboto Light"/>
              <a:cs typeface="Roboto Ligh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1410" y="4400669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0006" y="4527352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B. Prompting &amp; API</a:t>
            </a:r>
            <a:endParaRPr lang="en-US" sz="1550"/>
          </a:p>
        </p:txBody>
      </p:sp>
      <p:sp>
        <p:nvSpPr>
          <p:cNvPr id="13" name="Text 11"/>
          <p:cNvSpPr/>
          <p:nvPr/>
        </p:nvSpPr>
        <p:spPr>
          <a:xfrm>
            <a:off x="3609261" y="4527352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Hai</a:t>
            </a: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63314" y="4527352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Dylan</a:t>
            </a:r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17368" y="4527352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Prompt library development, Gemini API adapters</a:t>
            </a:r>
            <a:endParaRPr lang="en-US" sz="1550"/>
          </a:p>
        </p:txBody>
      </p:sp>
      <p:sp>
        <p:nvSpPr>
          <p:cNvPr id="16" name="Shape 14"/>
          <p:cNvSpPr/>
          <p:nvPr/>
        </p:nvSpPr>
        <p:spPr>
          <a:xfrm>
            <a:off x="801410" y="4971574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0006" y="5098256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C. Naive RAG</a:t>
            </a:r>
            <a:endParaRPr lang="en-US" sz="1550"/>
          </a:p>
        </p:txBody>
      </p:sp>
      <p:sp>
        <p:nvSpPr>
          <p:cNvPr id="18" name="Text 16"/>
          <p:cNvSpPr/>
          <p:nvPr/>
        </p:nvSpPr>
        <p:spPr>
          <a:xfrm>
            <a:off x="3609261" y="5098256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Henry</a:t>
            </a:r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63314" y="5098256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Vinh</a:t>
            </a:r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17368" y="5098256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Semantic search, vector database integration (vDB)</a:t>
            </a:r>
            <a:endParaRPr lang="en-US" sz="1550"/>
          </a:p>
        </p:txBody>
      </p:sp>
      <p:sp>
        <p:nvSpPr>
          <p:cNvPr id="21" name="Shape 19"/>
          <p:cNvSpPr/>
          <p:nvPr/>
        </p:nvSpPr>
        <p:spPr>
          <a:xfrm>
            <a:off x="801410" y="5542478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0006" y="5669161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D1. Distillation</a:t>
            </a:r>
            <a:endParaRPr lang="en-US" sz="1550"/>
          </a:p>
        </p:txBody>
      </p:sp>
      <p:sp>
        <p:nvSpPr>
          <p:cNvPr id="23" name="Text 21"/>
          <p:cNvSpPr/>
          <p:nvPr/>
        </p:nvSpPr>
        <p:spPr>
          <a:xfrm>
            <a:off x="3609261" y="5669161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Liam</a:t>
            </a:r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63314" y="5669161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Liam</a:t>
            </a:r>
            <a:endParaRPr lang="en-US" sz="1600">
              <a:solidFill>
                <a:srgbClr val="000000"/>
              </a:solidFill>
              <a:latin typeface="Roboto Light"/>
              <a:ea typeface="Roboto Light"/>
              <a:cs typeface="Roboto Light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1550">
              <a:solidFill>
                <a:srgbClr val="E5E0DF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17368" y="5669161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Teacher–student model distillation techniques</a:t>
            </a:r>
            <a:endParaRPr lang="en-US" sz="1550"/>
          </a:p>
        </p:txBody>
      </p:sp>
      <p:sp>
        <p:nvSpPr>
          <p:cNvPr id="26" name="Shape 24"/>
          <p:cNvSpPr/>
          <p:nvPr/>
        </p:nvSpPr>
        <p:spPr>
          <a:xfrm>
            <a:off x="801410" y="611338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0006" y="6240066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D2. Fine-tuning</a:t>
            </a:r>
            <a:endParaRPr lang="en-US" sz="1550"/>
          </a:p>
        </p:txBody>
      </p:sp>
      <p:sp>
        <p:nvSpPr>
          <p:cNvPr id="28" name="Text 26"/>
          <p:cNvSpPr/>
          <p:nvPr/>
        </p:nvSpPr>
        <p:spPr>
          <a:xfrm>
            <a:off x="3609261" y="6240066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Liam</a:t>
            </a:r>
            <a:endParaRPr lang="en-US" sz="1600">
              <a:solidFill>
                <a:srgbClr val="000000"/>
              </a:solidFill>
              <a:latin typeface="Roboto Light"/>
              <a:ea typeface="Roboto Light"/>
              <a:cs typeface="Roboto Light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1550">
              <a:solidFill>
                <a:srgbClr val="E5E0DF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563314" y="6240066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Henry</a:t>
            </a:r>
            <a:endParaRPr lang="en-US" sz="1600">
              <a:solidFill>
                <a:srgbClr val="000000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517368" y="6240066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Augmentation strategies, GRPO/LoRA fine-tuning</a:t>
            </a:r>
            <a:endParaRPr lang="en-US" sz="1550"/>
          </a:p>
        </p:txBody>
      </p:sp>
      <p:sp>
        <p:nvSpPr>
          <p:cNvPr id="33" name="Rounded Rectangle 11">
            <a:extLst>
              <a:ext uri="{FF2B5EF4-FFF2-40B4-BE49-F238E27FC236}">
                <a16:creationId xmlns:a16="http://schemas.microsoft.com/office/drawing/2014/main" id="{932A604D-F603-EE95-7E51-09F474DB60DE}"/>
              </a:ext>
            </a:extLst>
          </p:cNvPr>
          <p:cNvSpPr/>
          <p:nvPr/>
        </p:nvSpPr>
        <p:spPr>
          <a:xfrm>
            <a:off x="12750800" y="7760057"/>
            <a:ext cx="1879600" cy="469543"/>
          </a:xfrm>
          <a:prstGeom prst="roundRect">
            <a:avLst/>
          </a:prstGeom>
          <a:solidFill>
            <a:srgbClr val="0505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368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Project Roadmap</a:t>
            </a:r>
            <a:endParaRPr lang="en-US" sz="1950"/>
          </a:p>
        </p:txBody>
      </p:sp>
      <p:sp>
        <p:nvSpPr>
          <p:cNvPr id="3" name="Text 1"/>
          <p:cNvSpPr/>
          <p:nvPr/>
        </p:nvSpPr>
        <p:spPr>
          <a:xfrm>
            <a:off x="793790" y="1402199"/>
            <a:ext cx="835747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Accelerated 4-Week MVP Timeline</a:t>
            </a:r>
            <a:endParaRPr lang="en-US" sz="3900"/>
          </a:p>
        </p:txBody>
      </p:sp>
      <p:sp>
        <p:nvSpPr>
          <p:cNvPr id="4" name="Text 2"/>
          <p:cNvSpPr/>
          <p:nvPr/>
        </p:nvSpPr>
        <p:spPr>
          <a:xfrm>
            <a:off x="793790" y="231993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Our aggressive four-week timeline is designed to rapidly prototype and deliver a functional MVP for the Medical AI Assistant, culminating in a deployable FastAPI + Docker service.</a:t>
            </a:r>
            <a:endParaRPr lang="en-US" sz="15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773567"/>
            <a:ext cx="4215289" cy="114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2148" y="4567238"/>
            <a:ext cx="381857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Week 2: Foundation &amp; Resources</a:t>
            </a:r>
            <a:endParaRPr lang="en-US" sz="1950"/>
          </a:p>
        </p:txBody>
      </p:sp>
      <p:sp>
        <p:nvSpPr>
          <p:cNvPr id="7" name="Text 4"/>
          <p:cNvSpPr/>
          <p:nvPr/>
        </p:nvSpPr>
        <p:spPr>
          <a:xfrm>
            <a:off x="992148" y="5306616"/>
            <a:ext cx="38185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Establish core roles and allocate essential resources. This includes finalising team assignments and setting up development environments.</a:t>
            </a:r>
            <a:endParaRPr lang="en-US" sz="155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437" y="3475911"/>
            <a:ext cx="4215408" cy="1143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05795" y="4269581"/>
            <a:ext cx="381869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Week 3: Stream Findings &amp; Datasets</a:t>
            </a:r>
            <a:endParaRPr lang="en-US" sz="1950"/>
          </a:p>
        </p:txBody>
      </p:sp>
      <p:sp>
        <p:nvSpPr>
          <p:cNvPr id="10" name="Text 6"/>
          <p:cNvSpPr/>
          <p:nvPr/>
        </p:nvSpPr>
        <p:spPr>
          <a:xfrm>
            <a:off x="5405795" y="5008959"/>
            <a:ext cx="3818692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Each stream delivers findings reports, including initial data ingestion, knowledge distillation, and fine-tuning datasets, alongside Docker Compose infrastructure and prompt packs.</a:t>
            </a:r>
            <a:endParaRPr lang="en-US" sz="155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203" y="3178254"/>
            <a:ext cx="4215289" cy="1143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819561" y="3971925"/>
            <a:ext cx="381857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Week 4: Prototype Integration &amp; Deployment</a:t>
            </a:r>
            <a:endParaRPr lang="en-US" sz="1950"/>
          </a:p>
        </p:txBody>
      </p:sp>
      <p:sp>
        <p:nvSpPr>
          <p:cNvPr id="13" name="Text 8"/>
          <p:cNvSpPr/>
          <p:nvPr/>
        </p:nvSpPr>
        <p:spPr>
          <a:xfrm>
            <a:off x="9819561" y="4711303"/>
            <a:ext cx="381857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Integrate Phase-1 prototypes into a cohesive system. The deliverable is a one-click FastAPI + Docker service with chat, retrieval, and model endpoints, complete with observability and safety guardrails.</a:t>
            </a:r>
            <a:endParaRPr lang="en-US" sz="1550"/>
          </a:p>
        </p:txBody>
      </p:sp>
      <p:sp>
        <p:nvSpPr>
          <p:cNvPr id="14" name="Text 9"/>
          <p:cNvSpPr/>
          <p:nvPr/>
        </p:nvSpPr>
        <p:spPr>
          <a:xfrm>
            <a:off x="793790" y="701825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This structured approach ensures continuous progress and a tangible output by the end of the four-week period.</a:t>
            </a:r>
            <a:endParaRPr lang="en-US" sz="1550"/>
          </a:p>
        </p:txBody>
      </p:sp>
      <p:sp>
        <p:nvSpPr>
          <p:cNvPr id="17" name="Rounded Rectangle 11">
            <a:extLst>
              <a:ext uri="{FF2B5EF4-FFF2-40B4-BE49-F238E27FC236}">
                <a16:creationId xmlns:a16="http://schemas.microsoft.com/office/drawing/2014/main" id="{8A4DFC1C-7349-A7BE-9E0F-D4E9D0C85F19}"/>
              </a:ext>
            </a:extLst>
          </p:cNvPr>
          <p:cNvSpPr/>
          <p:nvPr/>
        </p:nvSpPr>
        <p:spPr>
          <a:xfrm>
            <a:off x="12750800" y="7760057"/>
            <a:ext cx="1879600" cy="469543"/>
          </a:xfrm>
          <a:prstGeom prst="roundRect">
            <a:avLst/>
          </a:prstGeom>
          <a:solidFill>
            <a:srgbClr val="0505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7446" y="355759"/>
            <a:ext cx="2772576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850">
                <a:solidFill>
                  <a:srgbClr val="F2F2F3"/>
                </a:solidFill>
                <a:latin typeface="Poppins Light"/>
                <a:ea typeface="Poppins Light" pitchFamily="34" charset="-122"/>
                <a:cs typeface="Poppins Light"/>
              </a:rPr>
              <a:t>Technical Approach</a:t>
            </a:r>
            <a:endParaRPr lang="en-US" sz="1850">
              <a:latin typeface="Poppins Light"/>
              <a:ea typeface="Calibri"/>
              <a:cs typeface="Poppins Light"/>
            </a:endParaRPr>
          </a:p>
        </p:txBody>
      </p:sp>
      <p:sp>
        <p:nvSpPr>
          <p:cNvPr id="3" name="Text 1"/>
          <p:cNvSpPr/>
          <p:nvPr/>
        </p:nvSpPr>
        <p:spPr>
          <a:xfrm>
            <a:off x="517446" y="687110"/>
            <a:ext cx="6742033" cy="404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Dual-Model Strategy: Teachers &amp; Students</a:t>
            </a:r>
            <a:endParaRPr lang="en-US" sz="25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19" y="1680275"/>
            <a:ext cx="5534405" cy="55344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80578" y="1684356"/>
            <a:ext cx="6639997" cy="41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Our model strategy leverages a teacher-student paradigm to achieve both high performance and deployment efficiency for the Medical AI Assistant.</a:t>
            </a:r>
            <a:endParaRPr lang="en-US" sz="1600"/>
          </a:p>
        </p:txBody>
      </p:sp>
      <p:sp>
        <p:nvSpPr>
          <p:cNvPr id="6" name="Text 3"/>
          <p:cNvSpPr/>
          <p:nvPr/>
        </p:nvSpPr>
        <p:spPr>
          <a:xfrm>
            <a:off x="7480578" y="2464161"/>
            <a:ext cx="6639997" cy="41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60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Teacher Models:</a:t>
            </a:r>
            <a:r>
              <a:rPr lang="en-US" sz="16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We utilise powerful, large-scale models such as Gemini 2.5 Pro/Flash and MedGemma-27B-it for their advanced reasoning and comprehensive medical knowledge.</a:t>
            </a:r>
            <a:endParaRPr lang="en-US" sz="16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7480578" y="3513708"/>
            <a:ext cx="6639997" cy="41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60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Student Models:</a:t>
            </a:r>
            <a:r>
              <a:rPr lang="en-US" sz="16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For local deployment and efficiency, we are fine-tuning smaller, Qwen3-4B/8B models using QLoRA, making them suitable for the assistant’s real-time needs.</a:t>
            </a:r>
            <a:endParaRPr lang="en-US" sz="16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7483511" y="4637776"/>
            <a:ext cx="13595509" cy="20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Initial trials have demonstrated promising results: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7500137" y="5006947"/>
            <a:ext cx="13595509" cy="20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6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Successful smoke inference tests on Qwen3 models.</a:t>
            </a:r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7508450" y="5400557"/>
            <a:ext cx="6995203" cy="42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6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Effective distillation techniques employing Chain-of-Thought (CoT) trimming to transfer reasoning capabilities.</a:t>
            </a:r>
            <a:endParaRPr lang="en-US" sz="1600"/>
          </a:p>
        </p:txBody>
      </p:sp>
      <p:sp>
        <p:nvSpPr>
          <p:cNvPr id="11" name="Text 8"/>
          <p:cNvSpPr/>
          <p:nvPr/>
        </p:nvSpPr>
        <p:spPr>
          <a:xfrm>
            <a:off x="7516762" y="5960421"/>
            <a:ext cx="6745822" cy="273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6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Tested GRPO (Generative Reasoning Policy Optimisation) augmentation loops to enhance model robustness and factual accuracy.</a:t>
            </a:r>
            <a:endParaRPr lang="en-US" sz="160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F6E3AF-F5AF-2C2D-0DAE-095C28CCBA0E}"/>
              </a:ext>
            </a:extLst>
          </p:cNvPr>
          <p:cNvSpPr/>
          <p:nvPr/>
        </p:nvSpPr>
        <p:spPr>
          <a:xfrm>
            <a:off x="12750800" y="7760057"/>
            <a:ext cx="1879600" cy="469543"/>
          </a:xfrm>
          <a:prstGeom prst="roundRect">
            <a:avLst/>
          </a:prstGeom>
          <a:solidFill>
            <a:srgbClr val="0505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573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Model Refinement</a:t>
            </a:r>
            <a:endParaRPr lang="en-US" sz="1950"/>
          </a:p>
        </p:txBody>
      </p:sp>
      <p:sp>
        <p:nvSpPr>
          <p:cNvPr id="3" name="Text 1"/>
          <p:cNvSpPr/>
          <p:nvPr/>
        </p:nvSpPr>
        <p:spPr>
          <a:xfrm>
            <a:off x="793790" y="1624251"/>
            <a:ext cx="971442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Advanced Fine-Tuning &amp; Augmentation</a:t>
            </a:r>
            <a:endParaRPr lang="en-US" sz="39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41984"/>
            <a:ext cx="496133" cy="4961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7930" y="2659737"/>
            <a:ext cx="267307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Knowledge Distillation</a:t>
            </a:r>
            <a:endParaRPr lang="en-US" sz="1950"/>
          </a:p>
        </p:txBody>
      </p:sp>
      <p:sp>
        <p:nvSpPr>
          <p:cNvPr id="6" name="Text 3"/>
          <p:cNvSpPr/>
          <p:nvPr/>
        </p:nvSpPr>
        <p:spPr>
          <a:xfrm>
            <a:off x="1537930" y="3088958"/>
            <a:ext cx="5653207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Transferring knowledge from larger 'teacher' models (e.g., Gemini, MedGemma) to smaller 'student' models (e.g., Qwen3) using question-answer pairs and their underlying rationales. This ensures efficient, high-fidelity knowledge transfer.</a:t>
            </a:r>
            <a:endParaRPr lang="en-US" sz="155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144" y="2541984"/>
            <a:ext cx="496133" cy="4961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83285" y="265973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Augmentation</a:t>
            </a:r>
            <a:endParaRPr lang="en-US" sz="1950"/>
          </a:p>
        </p:txBody>
      </p:sp>
      <p:sp>
        <p:nvSpPr>
          <p:cNvPr id="9" name="Text 5"/>
          <p:cNvSpPr/>
          <p:nvPr/>
        </p:nvSpPr>
        <p:spPr>
          <a:xfrm>
            <a:off x="8183285" y="3088958"/>
            <a:ext cx="565332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Generating diverse training data through paraphrasing medical texts, creating hard negatives to improve discrimination, and forming contrastive triples to enhance model understanding of nuanced relationships.</a:t>
            </a:r>
            <a:endParaRPr lang="en-US" sz="155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755952"/>
            <a:ext cx="496133" cy="4961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37930" y="4873704"/>
            <a:ext cx="40780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Reasoning Augmentation (GRPO)</a:t>
            </a:r>
            <a:endParaRPr lang="en-US" sz="1950"/>
          </a:p>
        </p:txBody>
      </p:sp>
      <p:sp>
        <p:nvSpPr>
          <p:cNvPr id="12" name="Text 7"/>
          <p:cNvSpPr/>
          <p:nvPr/>
        </p:nvSpPr>
        <p:spPr>
          <a:xfrm>
            <a:off x="1537930" y="5302925"/>
            <a:ext cx="5653207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Implementing Generative Reasoning Policy Optimisation (GRPO) to train models to produce structured, concise rationales, significantly reducing output verbosity while maintaining accuracy.</a:t>
            </a:r>
            <a:endParaRPr lang="en-US" sz="155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9144" y="4755952"/>
            <a:ext cx="496133" cy="4961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83285" y="4873704"/>
            <a:ext cx="385833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Teacher-Conditioned Synthesis</a:t>
            </a:r>
            <a:endParaRPr lang="en-US" sz="1950"/>
          </a:p>
        </p:txBody>
      </p:sp>
      <p:sp>
        <p:nvSpPr>
          <p:cNvPr id="15" name="Text 9"/>
          <p:cNvSpPr/>
          <p:nvPr/>
        </p:nvSpPr>
        <p:spPr>
          <a:xfrm>
            <a:off x="8183285" y="5302925"/>
            <a:ext cx="565332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Utilising teacher models to condition generative processes, creating highly diverse and contextually relevant question-answer pairs for further model training and robustness.</a:t>
            </a:r>
            <a:endParaRPr lang="en-US" sz="1550"/>
          </a:p>
        </p:txBody>
      </p:sp>
      <p:sp>
        <p:nvSpPr>
          <p:cNvPr id="16" name="Text 10"/>
          <p:cNvSpPr/>
          <p:nvPr/>
        </p:nvSpPr>
        <p:spPr>
          <a:xfrm>
            <a:off x="793790" y="679632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These techniques are crucial for ensuring the Medical AI Assistant provides factual, concise, and clinically relevant responses.</a:t>
            </a:r>
            <a:endParaRPr lang="en-US" sz="1550"/>
          </a:p>
        </p:txBody>
      </p:sp>
      <p:sp>
        <p:nvSpPr>
          <p:cNvPr id="19" name="Rounded Rectangle 11">
            <a:extLst>
              <a:ext uri="{FF2B5EF4-FFF2-40B4-BE49-F238E27FC236}">
                <a16:creationId xmlns:a16="http://schemas.microsoft.com/office/drawing/2014/main" id="{72111579-01C5-2412-D580-B21DA072DD8D}"/>
              </a:ext>
            </a:extLst>
          </p:cNvPr>
          <p:cNvSpPr/>
          <p:nvPr/>
        </p:nvSpPr>
        <p:spPr>
          <a:xfrm>
            <a:off x="12750800" y="7760057"/>
            <a:ext cx="1879600" cy="469543"/>
          </a:xfrm>
          <a:prstGeom prst="roundRect">
            <a:avLst/>
          </a:prstGeom>
          <a:solidFill>
            <a:srgbClr val="0505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150" y="301228"/>
            <a:ext cx="2350239" cy="137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85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Core Functionality</a:t>
            </a:r>
            <a:endParaRPr lang="en-US" sz="1850"/>
          </a:p>
        </p:txBody>
      </p:sp>
      <p:sp>
        <p:nvSpPr>
          <p:cNvPr id="3" name="Text 1"/>
          <p:cNvSpPr/>
          <p:nvPr/>
        </p:nvSpPr>
        <p:spPr>
          <a:xfrm>
            <a:off x="438150" y="681611"/>
            <a:ext cx="3293031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Robust RAG Architecture</a:t>
            </a:r>
            <a:endParaRPr lang="en-US" sz="2150"/>
          </a:p>
        </p:txBody>
      </p:sp>
      <p:sp>
        <p:nvSpPr>
          <p:cNvPr id="4" name="Text 2"/>
          <p:cNvSpPr/>
          <p:nvPr/>
        </p:nvSpPr>
        <p:spPr>
          <a:xfrm>
            <a:off x="438150" y="1204847"/>
            <a:ext cx="12473940" cy="208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The Retrieval-Augmented Generation (RAG) architecture is the backbone of our Medical AI Assistant, designed for efficient and accurate information retrieval and synthesis.</a:t>
            </a:r>
            <a:endParaRPr lang="en-US" sz="1600">
              <a:latin typeface="Roboto Light"/>
              <a:ea typeface="Roboto Light"/>
              <a:cs typeface="Roboto Light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798" y="1386959"/>
            <a:ext cx="10626804" cy="73232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67983" y="5943775"/>
            <a:ext cx="2904001" cy="38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Clean</a:t>
            </a:r>
            <a:endParaRPr lang="en-US" sz="135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8196" y="4078191"/>
            <a:ext cx="687693" cy="6876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09354" y="2868496"/>
            <a:ext cx="2998344" cy="38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Chunk</a:t>
            </a:r>
            <a:endParaRPr lang="en-US" sz="135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1952" y="4497470"/>
            <a:ext cx="687694" cy="68769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55399" y="6844439"/>
            <a:ext cx="2904000" cy="38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Embed</a:t>
            </a:r>
            <a:endParaRPr lang="en-US" sz="135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5923" y="4916747"/>
            <a:ext cx="687693" cy="68769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067168" y="3686353"/>
            <a:ext cx="2904000" cy="38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Upsert</a:t>
            </a:r>
            <a:endParaRPr lang="en-US" sz="135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9582" y="5366972"/>
            <a:ext cx="687694" cy="68769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8150" y="8833485"/>
            <a:ext cx="13754100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Data Pipeline:</a:t>
            </a:r>
            <a:r>
              <a:rPr lang="en-US" sz="8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Involves a systematic process of cleaning, chunking, embedding, and upserting medical knowledge into our database.</a:t>
            </a:r>
            <a:endParaRPr lang="en-US" sz="850"/>
          </a:p>
        </p:txBody>
      </p:sp>
      <p:sp>
        <p:nvSpPr>
          <p:cNvPr id="15" name="Text 8"/>
          <p:cNvSpPr/>
          <p:nvPr/>
        </p:nvSpPr>
        <p:spPr>
          <a:xfrm>
            <a:off x="438150" y="9047083"/>
            <a:ext cx="13754100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Retrieval Systems:</a:t>
            </a:r>
            <a:r>
              <a:rPr lang="en-US" sz="8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Utilises a variety of robust vector databases including FAISS, Chroma, Qdrant, and Mongo Atlas Vector for efficient semantic search.</a:t>
            </a:r>
            <a:endParaRPr lang="en-US" sz="850"/>
          </a:p>
        </p:txBody>
      </p:sp>
      <p:sp>
        <p:nvSpPr>
          <p:cNvPr id="16" name="Text 9"/>
          <p:cNvSpPr/>
          <p:nvPr/>
        </p:nvSpPr>
        <p:spPr>
          <a:xfrm>
            <a:off x="438150" y="9260681"/>
            <a:ext cx="13754100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Planner/Agent:</a:t>
            </a:r>
            <a:r>
              <a:rPr lang="en-US" sz="8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An intelligent module that dynamically chooses the optimal retriever, summariser, and EMR fetch mechanisms based on query context.</a:t>
            </a:r>
            <a:endParaRPr lang="en-US" sz="850"/>
          </a:p>
        </p:txBody>
      </p:sp>
      <p:sp>
        <p:nvSpPr>
          <p:cNvPr id="17" name="Text 10"/>
          <p:cNvSpPr/>
          <p:nvPr/>
        </p:nvSpPr>
        <p:spPr>
          <a:xfrm>
            <a:off x="438150" y="9474279"/>
            <a:ext cx="13754100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Memory Management:</a:t>
            </a:r>
            <a:r>
              <a:rPr lang="en-US" sz="8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Integrates both Short-Term Memory (STM) via LRU cache for recent interactions and Long-Term Memory (LTM) through the VectorDB for persistent knowledge.</a:t>
            </a:r>
            <a:endParaRPr lang="en-US" sz="850"/>
          </a:p>
        </p:txBody>
      </p:sp>
      <p:sp>
        <p:nvSpPr>
          <p:cNvPr id="18" name="Text 11"/>
          <p:cNvSpPr/>
          <p:nvPr/>
        </p:nvSpPr>
        <p:spPr>
          <a:xfrm>
            <a:off x="438150" y="9687878"/>
            <a:ext cx="13754100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Prompt Budgeting:</a:t>
            </a:r>
            <a:r>
              <a:rPr lang="en-US" sz="8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Prioritises safety and factual accuracy, ensuring that safety protocols are paramount, followed by citation generation, and then recent clinical guidance.</a:t>
            </a:r>
            <a:endParaRPr lang="en-US" sz="850"/>
          </a:p>
        </p:txBody>
      </p:sp>
      <p:sp>
        <p:nvSpPr>
          <p:cNvPr id="21" name="Rounded Rectangle 11">
            <a:extLst>
              <a:ext uri="{FF2B5EF4-FFF2-40B4-BE49-F238E27FC236}">
                <a16:creationId xmlns:a16="http://schemas.microsoft.com/office/drawing/2014/main" id="{07827074-E974-23BF-F7D4-70ACD4D27D38}"/>
              </a:ext>
            </a:extLst>
          </p:cNvPr>
          <p:cNvSpPr/>
          <p:nvPr/>
        </p:nvSpPr>
        <p:spPr>
          <a:xfrm>
            <a:off x="12750800" y="7760057"/>
            <a:ext cx="1879600" cy="469543"/>
          </a:xfrm>
          <a:prstGeom prst="roundRect">
            <a:avLst/>
          </a:prstGeom>
          <a:solidFill>
            <a:srgbClr val="0505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714" y="524351"/>
            <a:ext cx="2383750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Security</a:t>
            </a:r>
            <a:endParaRPr lang="en-US" sz="1850"/>
          </a:p>
        </p:txBody>
      </p:sp>
      <p:sp>
        <p:nvSpPr>
          <p:cNvPr id="3" name="Text 1"/>
          <p:cNvSpPr/>
          <p:nvPr/>
        </p:nvSpPr>
        <p:spPr>
          <a:xfrm>
            <a:off x="762714" y="1012865"/>
            <a:ext cx="5393412" cy="595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Secure EMR Integration</a:t>
            </a:r>
            <a:endParaRPr lang="en-US" sz="3750"/>
          </a:p>
        </p:txBody>
      </p:sp>
      <p:sp>
        <p:nvSpPr>
          <p:cNvPr id="4" name="Text 2"/>
          <p:cNvSpPr/>
          <p:nvPr/>
        </p:nvSpPr>
        <p:spPr>
          <a:xfrm>
            <a:off x="762714" y="2066330"/>
            <a:ext cx="6998256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Integrating with Electronic Medical Records (EMR) is critical for contextualising patient information, and our approach prioritises security, privacy, and compliance.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762714" y="2848213"/>
            <a:ext cx="6998256" cy="62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Scope:</a:t>
            </a:r>
            <a:r>
              <a:rPr lang="en-US" sz="15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Provides a secure, read-only API endpoint (</a:t>
            </a:r>
            <a:r>
              <a:rPr lang="en-US" sz="150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/emr/search</a:t>
            </a:r>
            <a:r>
              <a:rPr lang="en-US" sz="15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 to prevent any alteration of patient data.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762714" y="3540443"/>
            <a:ext cx="6998256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Field-Level Filters:</a:t>
            </a:r>
            <a:r>
              <a:rPr lang="en-US" sz="15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Enables precise data retrieval with field-level filtering, ensuring only necessary information is accessed.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762714" y="4217432"/>
            <a:ext cx="6998256" cy="915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PHI Scrubbing:</a:t>
            </a:r>
            <a:r>
              <a:rPr lang="en-US" sz="15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Crucially, all Protected Health Information (PHI) is rigorously scrubbed and anonymised before any data is passed to the Language Model (LLM), safeguarding patient confidentiality.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762714" y="5199578"/>
            <a:ext cx="6998256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Per-Query Retrieval:</a:t>
            </a:r>
            <a:r>
              <a:rPr lang="en-US" sz="15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Data is fetched on a per-query basis, avoiding bulk indexing to minimise exposure and enhance security.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762714" y="5876568"/>
            <a:ext cx="6998256" cy="915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Consent &amp; Audit:</a:t>
            </a:r>
            <a:r>
              <a:rPr lang="en-US" sz="15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Features include a consent flag for data access and comprehensive audit logs for accountability, alongside escalation protocols to clinicians for sensitive cases.</a:t>
            </a:r>
            <a:endParaRPr lang="en-US" sz="150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369" y="392536"/>
            <a:ext cx="6383171" cy="6409050"/>
          </a:xfrm>
          <a:prstGeom prst="rect">
            <a:avLst/>
          </a:prstGeom>
        </p:spPr>
      </p:pic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6FE92D04-FEFE-C4DA-D53D-A07712E4DEBB}"/>
              </a:ext>
            </a:extLst>
          </p:cNvPr>
          <p:cNvSpPr/>
          <p:nvPr/>
        </p:nvSpPr>
        <p:spPr>
          <a:xfrm>
            <a:off x="12750800" y="7760057"/>
            <a:ext cx="1879600" cy="469543"/>
          </a:xfrm>
          <a:prstGeom prst="roundRect">
            <a:avLst/>
          </a:prstGeom>
          <a:solidFill>
            <a:srgbClr val="0505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52926"/>
            <a:ext cx="312241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Challenges &amp; Safeguards</a:t>
            </a:r>
            <a:endParaRPr lang="en-US" sz="1950"/>
          </a:p>
        </p:txBody>
      </p:sp>
      <p:sp>
        <p:nvSpPr>
          <p:cNvPr id="3" name="Text 1"/>
          <p:cNvSpPr/>
          <p:nvPr/>
        </p:nvSpPr>
        <p:spPr>
          <a:xfrm>
            <a:off x="793790" y="1061442"/>
            <a:ext cx="56476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Risk Mitigation Strategy</a:t>
            </a:r>
            <a:endParaRPr lang="en-US" sz="3900"/>
          </a:p>
        </p:txBody>
      </p:sp>
      <p:sp>
        <p:nvSpPr>
          <p:cNvPr id="4" name="Text 2"/>
          <p:cNvSpPr/>
          <p:nvPr/>
        </p:nvSpPr>
        <p:spPr>
          <a:xfrm>
            <a:off x="793790" y="197917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Addressing potential risks proactively is essential for the successful deployment of the Medical AI Assistant. Our strategy focuses on key areas to ensure reliability and compliance.</a:t>
            </a:r>
            <a:endParaRPr lang="en-US" sz="1550"/>
          </a:p>
        </p:txBody>
      </p:sp>
      <p:sp>
        <p:nvSpPr>
          <p:cNvPr id="5" name="Shape 3"/>
          <p:cNvSpPr/>
          <p:nvPr/>
        </p:nvSpPr>
        <p:spPr>
          <a:xfrm>
            <a:off x="793790" y="2837498"/>
            <a:ext cx="13042821" cy="4839176"/>
          </a:xfrm>
          <a:prstGeom prst="roundRect">
            <a:avLst>
              <a:gd name="adj" fmla="val 172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1410" y="2845118"/>
            <a:ext cx="13027581" cy="8884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0006" y="2971800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GPU scarcity</a:t>
            </a:r>
            <a:endParaRPr lang="en-US" sz="1550"/>
          </a:p>
        </p:txBody>
      </p:sp>
      <p:sp>
        <p:nvSpPr>
          <p:cNvPr id="8" name="Text 6"/>
          <p:cNvSpPr/>
          <p:nvPr/>
        </p:nvSpPr>
        <p:spPr>
          <a:xfrm>
            <a:off x="3609261" y="2971800"/>
            <a:ext cx="22011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Blocks teacher runs and model training progress</a:t>
            </a:r>
            <a:endParaRPr lang="en-US" sz="1550"/>
          </a:p>
        </p:txBody>
      </p:sp>
      <p:sp>
        <p:nvSpPr>
          <p:cNvPr id="9" name="Text 7"/>
          <p:cNvSpPr/>
          <p:nvPr/>
        </p:nvSpPr>
        <p:spPr>
          <a:xfrm>
            <a:off x="6214705" y="2971800"/>
            <a:ext cx="741592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Leverage cloud-based solutions like Gemini API or utilise on-demand GPU rentals (e.g., Vast.ai) for compute-intensive tasks.</a:t>
            </a:r>
            <a:endParaRPr lang="en-US" sz="1550"/>
          </a:p>
        </p:txBody>
      </p:sp>
      <p:sp>
        <p:nvSpPr>
          <p:cNvPr id="10" name="Shape 8"/>
          <p:cNvSpPr/>
          <p:nvPr/>
        </p:nvSpPr>
        <p:spPr>
          <a:xfrm>
            <a:off x="801410" y="3733562"/>
            <a:ext cx="13027581" cy="12059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0006" y="3860244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Data licensing</a:t>
            </a:r>
            <a:endParaRPr lang="en-US" sz="1550"/>
          </a:p>
        </p:txBody>
      </p:sp>
      <p:sp>
        <p:nvSpPr>
          <p:cNvPr id="12" name="Text 10"/>
          <p:cNvSpPr/>
          <p:nvPr/>
        </p:nvSpPr>
        <p:spPr>
          <a:xfrm>
            <a:off x="3609261" y="3860244"/>
            <a:ext cx="22011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Compliance and legal issues with medical data usage</a:t>
            </a:r>
            <a:endParaRPr lang="en-US" sz="1550"/>
          </a:p>
        </p:txBody>
      </p:sp>
      <p:sp>
        <p:nvSpPr>
          <p:cNvPr id="13" name="Text 11"/>
          <p:cNvSpPr/>
          <p:nvPr/>
        </p:nvSpPr>
        <p:spPr>
          <a:xfrm>
            <a:off x="6214705" y="3860244"/>
            <a:ext cx="741592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Source data only from fully licensed and approved medical knowledge bases. Implement robust metadata tagging for all data sources to track compliance.</a:t>
            </a:r>
            <a:endParaRPr lang="en-US" sz="1550"/>
          </a:p>
        </p:txBody>
      </p:sp>
      <p:sp>
        <p:nvSpPr>
          <p:cNvPr id="14" name="Shape 12"/>
          <p:cNvSpPr/>
          <p:nvPr/>
        </p:nvSpPr>
        <p:spPr>
          <a:xfrm>
            <a:off x="801410" y="4939546"/>
            <a:ext cx="13027581" cy="12059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0006" y="5066228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Hallucinations</a:t>
            </a:r>
            <a:endParaRPr lang="en-US" sz="1550"/>
          </a:p>
        </p:txBody>
      </p:sp>
      <p:sp>
        <p:nvSpPr>
          <p:cNvPr id="16" name="Text 14"/>
          <p:cNvSpPr/>
          <p:nvPr/>
        </p:nvSpPr>
        <p:spPr>
          <a:xfrm>
            <a:off x="3609261" y="5066228"/>
            <a:ext cx="22011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Safety issue, provides incorrect or fabricated medical information</a:t>
            </a:r>
            <a:endParaRPr lang="en-US" sz="1550"/>
          </a:p>
        </p:txBody>
      </p:sp>
      <p:sp>
        <p:nvSpPr>
          <p:cNvPr id="17" name="Text 15"/>
          <p:cNvSpPr/>
          <p:nvPr/>
        </p:nvSpPr>
        <p:spPr>
          <a:xfrm>
            <a:off x="6214705" y="5066228"/>
            <a:ext cx="741592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Implement a "citation-first" prompting strategy to demand factual references. Develop a strict refusal policy for uncertain or unverified queries.</a:t>
            </a:r>
            <a:endParaRPr lang="en-US" sz="1550"/>
          </a:p>
        </p:txBody>
      </p:sp>
      <p:sp>
        <p:nvSpPr>
          <p:cNvPr id="18" name="Shape 16"/>
          <p:cNvSpPr/>
          <p:nvPr/>
        </p:nvSpPr>
        <p:spPr>
          <a:xfrm>
            <a:off x="801410" y="6145530"/>
            <a:ext cx="13027581" cy="152352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0006" y="6272212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EMR privacy</a:t>
            </a:r>
            <a:endParaRPr lang="en-US" sz="1550"/>
          </a:p>
        </p:txBody>
      </p:sp>
      <p:sp>
        <p:nvSpPr>
          <p:cNvPr id="20" name="Text 18"/>
          <p:cNvSpPr/>
          <p:nvPr/>
        </p:nvSpPr>
        <p:spPr>
          <a:xfrm>
            <a:off x="3609261" y="6272212"/>
            <a:ext cx="22011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Patient data breaches, non-compliance with regulations (e.g., GDPR, HIPAA)</a:t>
            </a:r>
            <a:endParaRPr lang="en-US" sz="1550"/>
          </a:p>
        </p:txBody>
      </p:sp>
      <p:sp>
        <p:nvSpPr>
          <p:cNvPr id="21" name="Text 19"/>
          <p:cNvSpPr/>
          <p:nvPr/>
        </p:nvSpPr>
        <p:spPr>
          <a:xfrm>
            <a:off x="6214705" y="6272212"/>
            <a:ext cx="741592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Ensure PHI scrubbing before LLM interaction, maintain read-only access to EMR, and implement comprehensive audit logs for all data access.</a:t>
            </a:r>
            <a:endParaRPr lang="en-US" sz="1550"/>
          </a:p>
        </p:txBody>
      </p:sp>
      <p:sp>
        <p:nvSpPr>
          <p:cNvPr id="24" name="Rounded Rectangle 11">
            <a:extLst>
              <a:ext uri="{FF2B5EF4-FFF2-40B4-BE49-F238E27FC236}">
                <a16:creationId xmlns:a16="http://schemas.microsoft.com/office/drawing/2014/main" id="{5F34154A-1CB9-9754-9D70-45AC5D271CA0}"/>
              </a:ext>
            </a:extLst>
          </p:cNvPr>
          <p:cNvSpPr/>
          <p:nvPr/>
        </p:nvSpPr>
        <p:spPr>
          <a:xfrm>
            <a:off x="12750800" y="7760057"/>
            <a:ext cx="1879600" cy="469543"/>
          </a:xfrm>
          <a:prstGeom prst="roundRect">
            <a:avLst/>
          </a:prstGeom>
          <a:solidFill>
            <a:srgbClr val="0505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9436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Future Outlook</a:t>
            </a:r>
            <a:endParaRPr lang="en-US" sz="1950"/>
          </a:p>
        </p:txBody>
      </p:sp>
      <p:sp>
        <p:nvSpPr>
          <p:cNvPr id="3" name="Text 1"/>
          <p:cNvSpPr/>
          <p:nvPr/>
        </p:nvSpPr>
        <p:spPr>
          <a:xfrm>
            <a:off x="793790" y="1102876"/>
            <a:ext cx="666119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Next Steps &amp; Phase 2 Vision</a:t>
            </a:r>
            <a:endParaRPr lang="en-US" sz="3900"/>
          </a:p>
        </p:txBody>
      </p:sp>
      <p:sp>
        <p:nvSpPr>
          <p:cNvPr id="4" name="Text 2"/>
          <p:cNvSpPr/>
          <p:nvPr/>
        </p:nvSpPr>
        <p:spPr>
          <a:xfrm>
            <a:off x="793790" y="202061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Our immediate focus is on delivering key components by Week 3, leading to a fully functional MVP prototype by Week 4, ready for demonstration and future expansion.</a:t>
            </a:r>
            <a:endParaRPr lang="en-US" sz="1550"/>
          </a:p>
        </p:txBody>
      </p:sp>
      <p:sp>
        <p:nvSpPr>
          <p:cNvPr id="5" name="Shape 3"/>
          <p:cNvSpPr/>
          <p:nvPr/>
        </p:nvSpPr>
        <p:spPr>
          <a:xfrm>
            <a:off x="793790" y="2878931"/>
            <a:ext cx="4215289" cy="4215527"/>
          </a:xfrm>
          <a:prstGeom prst="roundRect">
            <a:avLst>
              <a:gd name="adj" fmla="val 1978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16650" y="2901791"/>
            <a:ext cx="4169569" cy="595313"/>
          </a:xfrm>
          <a:prstGeom prst="roundRect">
            <a:avLst>
              <a:gd name="adj" fmla="val 9395"/>
            </a:avLst>
          </a:prstGeom>
          <a:solidFill>
            <a:srgbClr val="3D3D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52606" y="300954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2300"/>
          </a:p>
        </p:txBody>
      </p:sp>
      <p:sp>
        <p:nvSpPr>
          <p:cNvPr id="8" name="Text 6"/>
          <p:cNvSpPr/>
          <p:nvPr/>
        </p:nvSpPr>
        <p:spPr>
          <a:xfrm>
            <a:off x="1015008" y="36954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Week 3 Deliverables</a:t>
            </a:r>
            <a:endParaRPr lang="en-US" sz="1950"/>
          </a:p>
        </p:txBody>
      </p:sp>
      <p:sp>
        <p:nvSpPr>
          <p:cNvPr id="9" name="Text 7"/>
          <p:cNvSpPr/>
          <p:nvPr/>
        </p:nvSpPr>
        <p:spPr>
          <a:xfrm>
            <a:off x="1015008" y="4124682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Docker Compose infrastructure for seamless deployment.</a:t>
            </a:r>
            <a:endParaRPr lang="en-US" sz="1550"/>
          </a:p>
        </p:txBody>
      </p:sp>
      <p:sp>
        <p:nvSpPr>
          <p:cNvPr id="10" name="Text 8"/>
          <p:cNvSpPr/>
          <p:nvPr/>
        </p:nvSpPr>
        <p:spPr>
          <a:xfrm>
            <a:off x="1015008" y="4829175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Comprehensive prompt packs for various use cases.</a:t>
            </a:r>
            <a:endParaRPr lang="en-US" sz="1550"/>
          </a:p>
        </p:txBody>
      </p:sp>
      <p:sp>
        <p:nvSpPr>
          <p:cNvPr id="11" name="Text 9"/>
          <p:cNvSpPr/>
          <p:nvPr/>
        </p:nvSpPr>
        <p:spPr>
          <a:xfrm>
            <a:off x="1015008" y="5533668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Ingestion CLI for efficient data handling.</a:t>
            </a:r>
            <a:endParaRPr lang="en-US" sz="1550"/>
          </a:p>
        </p:txBody>
      </p:sp>
      <p:sp>
        <p:nvSpPr>
          <p:cNvPr id="12" name="Text 10"/>
          <p:cNvSpPr/>
          <p:nvPr/>
        </p:nvSpPr>
        <p:spPr>
          <a:xfrm>
            <a:off x="1015008" y="5920621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Knowledge Distillation (KD) and Fine-Tuning (FT) datasets ready for model training.</a:t>
            </a:r>
            <a:endParaRPr lang="en-US" sz="1550"/>
          </a:p>
        </p:txBody>
      </p:sp>
      <p:sp>
        <p:nvSpPr>
          <p:cNvPr id="13" name="Shape 11"/>
          <p:cNvSpPr/>
          <p:nvPr/>
        </p:nvSpPr>
        <p:spPr>
          <a:xfrm>
            <a:off x="5207437" y="2878931"/>
            <a:ext cx="4215408" cy="4215527"/>
          </a:xfrm>
          <a:prstGeom prst="roundRect">
            <a:avLst>
              <a:gd name="adj" fmla="val 1977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30297" y="2901791"/>
            <a:ext cx="4169688" cy="595313"/>
          </a:xfrm>
          <a:prstGeom prst="roundRect">
            <a:avLst>
              <a:gd name="adj" fmla="val 9395"/>
            </a:avLst>
          </a:prstGeom>
          <a:solidFill>
            <a:srgbClr val="3D3D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66253" y="300954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2300"/>
          </a:p>
        </p:txBody>
      </p:sp>
      <p:sp>
        <p:nvSpPr>
          <p:cNvPr id="16" name="Text 14"/>
          <p:cNvSpPr/>
          <p:nvPr/>
        </p:nvSpPr>
        <p:spPr>
          <a:xfrm>
            <a:off x="5428655" y="3695462"/>
            <a:ext cx="309669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Week 4 Prototype Launch</a:t>
            </a:r>
            <a:endParaRPr lang="en-US" sz="1950"/>
          </a:p>
        </p:txBody>
      </p:sp>
      <p:sp>
        <p:nvSpPr>
          <p:cNvPr id="17" name="Text 15"/>
          <p:cNvSpPr/>
          <p:nvPr/>
        </p:nvSpPr>
        <p:spPr>
          <a:xfrm>
            <a:off x="5428655" y="4124682"/>
            <a:ext cx="3772972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/chat</a:t>
            </a: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r>
              <a:rPr lang="en-US" sz="155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/retrieval</a:t>
            </a: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r>
              <a:rPr lang="en-US" sz="155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/indexer</a:t>
            </a: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and </a:t>
            </a:r>
            <a:r>
              <a:rPr lang="en-US" sz="155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/models/student</a:t>
            </a: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endpoints will be live.</a:t>
            </a:r>
            <a:endParaRPr lang="en-US" sz="1550"/>
          </a:p>
        </p:txBody>
      </p:sp>
      <p:sp>
        <p:nvSpPr>
          <p:cNvPr id="18" name="Text 16"/>
          <p:cNvSpPr/>
          <p:nvPr/>
        </p:nvSpPr>
        <p:spPr>
          <a:xfrm>
            <a:off x="5428655" y="5110423"/>
            <a:ext cx="377297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Integrated observability tools for performance monitoring.</a:t>
            </a:r>
            <a:endParaRPr lang="en-US" sz="1550"/>
          </a:p>
        </p:txBody>
      </p:sp>
      <p:sp>
        <p:nvSpPr>
          <p:cNvPr id="19" name="Text 17"/>
          <p:cNvSpPr/>
          <p:nvPr/>
        </p:nvSpPr>
        <p:spPr>
          <a:xfrm>
            <a:off x="5428655" y="5814916"/>
            <a:ext cx="377297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Robust safety guardrails implemented to ensure ethical and accurate use.</a:t>
            </a:r>
            <a:endParaRPr lang="en-US" sz="1550"/>
          </a:p>
        </p:txBody>
      </p:sp>
      <p:sp>
        <p:nvSpPr>
          <p:cNvPr id="20" name="Shape 18"/>
          <p:cNvSpPr/>
          <p:nvPr/>
        </p:nvSpPr>
        <p:spPr>
          <a:xfrm>
            <a:off x="9621203" y="2878931"/>
            <a:ext cx="4215289" cy="4215527"/>
          </a:xfrm>
          <a:prstGeom prst="roundRect">
            <a:avLst>
              <a:gd name="adj" fmla="val 1978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644063" y="2901791"/>
            <a:ext cx="4169569" cy="595313"/>
          </a:xfrm>
          <a:prstGeom prst="roundRect">
            <a:avLst>
              <a:gd name="adj" fmla="val 9395"/>
            </a:avLst>
          </a:prstGeom>
          <a:solidFill>
            <a:srgbClr val="3D3D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580019" y="300954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2300"/>
          </a:p>
        </p:txBody>
      </p:sp>
      <p:sp>
        <p:nvSpPr>
          <p:cNvPr id="23" name="Text 21"/>
          <p:cNvSpPr/>
          <p:nvPr/>
        </p:nvSpPr>
        <p:spPr>
          <a:xfrm>
            <a:off x="9842421" y="36954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Outcome &amp; Phase 2</a:t>
            </a:r>
            <a:endParaRPr lang="en-US" sz="1950"/>
          </a:p>
        </p:txBody>
      </p:sp>
      <p:sp>
        <p:nvSpPr>
          <p:cNvPr id="24" name="Text 22"/>
          <p:cNvSpPr/>
          <p:nvPr/>
        </p:nvSpPr>
        <p:spPr>
          <a:xfrm>
            <a:off x="9842421" y="4124682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MVP will be demo-ready, showcasing core functionalities.</a:t>
            </a:r>
            <a:endParaRPr lang="en-US" sz="1550"/>
          </a:p>
        </p:txBody>
      </p:sp>
      <p:sp>
        <p:nvSpPr>
          <p:cNvPr id="25" name="Text 23"/>
          <p:cNvSpPr/>
          <p:nvPr/>
        </p:nvSpPr>
        <p:spPr>
          <a:xfrm>
            <a:off x="9842421" y="4829175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Foundation laid for Phase 2 expansion, including vision/OCR capabilities for image analysis.</a:t>
            </a:r>
            <a:endParaRPr lang="en-US" sz="1550"/>
          </a:p>
        </p:txBody>
      </p:sp>
      <p:sp>
        <p:nvSpPr>
          <p:cNvPr id="26" name="Text 24"/>
          <p:cNvSpPr/>
          <p:nvPr/>
        </p:nvSpPr>
        <p:spPr>
          <a:xfrm>
            <a:off x="9842421" y="5851208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Implementation of a continuous clinician feedback loop for ongoing model improvement and adaptation.</a:t>
            </a:r>
            <a:endParaRPr lang="en-US" sz="1550"/>
          </a:p>
        </p:txBody>
      </p:sp>
      <p:sp>
        <p:nvSpPr>
          <p:cNvPr id="27" name="Text 25"/>
          <p:cNvSpPr/>
          <p:nvPr/>
        </p:nvSpPr>
        <p:spPr>
          <a:xfrm>
            <a:off x="793790" y="731770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This structured approach ensures not only a timely MVP delivery but also a clear path for future enhancements and broader clinical application.</a:t>
            </a:r>
            <a:endParaRPr lang="en-US" sz="1550"/>
          </a:p>
        </p:txBody>
      </p:sp>
      <p:sp>
        <p:nvSpPr>
          <p:cNvPr id="30" name="Rounded Rectangle 11">
            <a:extLst>
              <a:ext uri="{FF2B5EF4-FFF2-40B4-BE49-F238E27FC236}">
                <a16:creationId xmlns:a16="http://schemas.microsoft.com/office/drawing/2014/main" id="{1FA0E212-25DC-4D48-8C74-5B7334BFD1EA}"/>
              </a:ext>
            </a:extLst>
          </p:cNvPr>
          <p:cNvSpPr/>
          <p:nvPr/>
        </p:nvSpPr>
        <p:spPr>
          <a:xfrm>
            <a:off x="12750800" y="7760057"/>
            <a:ext cx="1879600" cy="469543"/>
          </a:xfrm>
          <a:prstGeom prst="roundRect">
            <a:avLst/>
          </a:prstGeom>
          <a:solidFill>
            <a:srgbClr val="0505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revision>1</cp:revision>
  <dcterms:created xsi:type="dcterms:W3CDTF">2025-08-17T10:43:28Z</dcterms:created>
  <dcterms:modified xsi:type="dcterms:W3CDTF">2025-08-17T10:59:33Z</dcterms:modified>
</cp:coreProperties>
</file>